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Ex1.xml" ContentType="application/vnd.ms-office.chartex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8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9.xml" ContentType="application/vnd.openxmlformats-officedocument.themeOverride+xml"/>
  <Override PartName="/ppt/charts/chart9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theme/themeOverride10.xml" ContentType="application/vnd.openxmlformats-officedocument.themeOverride+xml"/>
  <Override PartName="/ppt/charts/chart10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heme/themeOverride11.xml" ContentType="application/vnd.openxmlformats-officedocument.themeOverr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20"/>
  </p:notesMasterIdLst>
  <p:handoutMasterIdLst>
    <p:handoutMasterId r:id="rId21"/>
  </p:handoutMasterIdLst>
  <p:sldIdLst>
    <p:sldId id="312" r:id="rId5"/>
    <p:sldId id="304" r:id="rId6"/>
    <p:sldId id="307" r:id="rId7"/>
    <p:sldId id="281" r:id="rId8"/>
    <p:sldId id="315" r:id="rId9"/>
    <p:sldId id="314" r:id="rId10"/>
    <p:sldId id="323" r:id="rId11"/>
    <p:sldId id="317" r:id="rId12"/>
    <p:sldId id="318" r:id="rId13"/>
    <p:sldId id="324" r:id="rId14"/>
    <p:sldId id="325" r:id="rId15"/>
    <p:sldId id="321" r:id="rId16"/>
    <p:sldId id="322" r:id="rId17"/>
    <p:sldId id="297" r:id="rId18"/>
    <p:sldId id="282" r:id="rId19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CDCE"/>
    <a:srgbClr val="AAC4E9"/>
    <a:srgbClr val="202C8F"/>
    <a:srgbClr val="DF8C8C"/>
    <a:srgbClr val="FDFBF6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0460432-77C5-456C-9BC1-68669DC583A8}" v="42" dt="2026-10-10T14:53:28.405"/>
  </p1510:revLst>
</p1510:revInfo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78" d="100"/>
          <a:sy n="78" d="100"/>
        </p:scale>
        <p:origin x="878" y="7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4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TYAM TIWARI" userId="0cf205bf011515d6" providerId="LiveId" clId="{7AD77E80-0D78-43F2-B667-50FC9C5BC3C5}"/>
    <pc:docChg chg="custSel addSld delSld modSld sldOrd">
      <pc:chgData name="SATYAM TIWARI" userId="0cf205bf011515d6" providerId="LiveId" clId="{7AD77E80-0D78-43F2-B667-50FC9C5BC3C5}" dt="2026-10-10T15:50:48.470" v="170"/>
      <pc:docMkLst>
        <pc:docMk/>
      </pc:docMkLst>
      <pc:sldChg chg="ord">
        <pc:chgData name="SATYAM TIWARI" userId="0cf205bf011515d6" providerId="LiveId" clId="{7AD77E80-0D78-43F2-B667-50FC9C5BC3C5}" dt="2026-10-10T14:38:18.836" v="162"/>
        <pc:sldMkLst>
          <pc:docMk/>
          <pc:sldMk cId="1973173046" sldId="297"/>
        </pc:sldMkLst>
      </pc:sldChg>
      <pc:sldChg chg="addSp delSp modSp del mod ord">
        <pc:chgData name="SATYAM TIWARI" userId="0cf205bf011515d6" providerId="LiveId" clId="{7AD77E80-0D78-43F2-B667-50FC9C5BC3C5}" dt="2026-10-10T14:37:50.326" v="160" actId="47"/>
        <pc:sldMkLst>
          <pc:docMk/>
          <pc:sldMk cId="3969996159" sldId="319"/>
        </pc:sldMkLst>
        <pc:spChg chg="add del mod">
          <ac:chgData name="SATYAM TIWARI" userId="0cf205bf011515d6" providerId="LiveId" clId="{7AD77E80-0D78-43F2-B667-50FC9C5BC3C5}" dt="2026-10-10T14:17:58.694" v="8" actId="767"/>
          <ac:spMkLst>
            <pc:docMk/>
            <pc:sldMk cId="3969996159" sldId="319"/>
            <ac:spMk id="6" creationId="{6120F891-373B-3516-1BE7-8CC6DCF61989}"/>
          </ac:spMkLst>
        </pc:spChg>
        <pc:spChg chg="mod">
          <ac:chgData name="SATYAM TIWARI" userId="0cf205bf011515d6" providerId="LiveId" clId="{7AD77E80-0D78-43F2-B667-50FC9C5BC3C5}" dt="2026-10-10T14:34:32.302" v="124" actId="21"/>
          <ac:spMkLst>
            <pc:docMk/>
            <pc:sldMk cId="3969996159" sldId="319"/>
            <ac:spMk id="7" creationId="{D19E6206-1356-4390-4115-06EB8D179C90}"/>
          </ac:spMkLst>
        </pc:spChg>
        <pc:spChg chg="mod">
          <ac:chgData name="SATYAM TIWARI" userId="0cf205bf011515d6" providerId="LiveId" clId="{7AD77E80-0D78-43F2-B667-50FC9C5BC3C5}" dt="2026-10-10T14:33:45.375" v="102" actId="21"/>
          <ac:spMkLst>
            <pc:docMk/>
            <pc:sldMk cId="3969996159" sldId="319"/>
            <ac:spMk id="8" creationId="{62E3C2B4-8DEF-AB2F-A8D3-D455452080E9}"/>
          </ac:spMkLst>
        </pc:spChg>
        <pc:spChg chg="mod">
          <ac:chgData name="SATYAM TIWARI" userId="0cf205bf011515d6" providerId="LiveId" clId="{7AD77E80-0D78-43F2-B667-50FC9C5BC3C5}" dt="2026-10-10T14:32:23.542" v="79" actId="21"/>
          <ac:spMkLst>
            <pc:docMk/>
            <pc:sldMk cId="3969996159" sldId="319"/>
            <ac:spMk id="9" creationId="{1DB04FD5-315D-84FD-6D50-4EC26A1E5332}"/>
          </ac:spMkLst>
        </pc:spChg>
        <pc:spChg chg="mod">
          <ac:chgData name="SATYAM TIWARI" userId="0cf205bf011515d6" providerId="LiveId" clId="{7AD77E80-0D78-43F2-B667-50FC9C5BC3C5}" dt="2026-10-10T14:31:48.742" v="68" actId="21"/>
          <ac:spMkLst>
            <pc:docMk/>
            <pc:sldMk cId="3969996159" sldId="319"/>
            <ac:spMk id="11" creationId="{886ED17A-970E-1ED0-9667-B8FAE61F85D3}"/>
          </ac:spMkLst>
        </pc:spChg>
        <pc:spChg chg="del mod">
          <ac:chgData name="SATYAM TIWARI" userId="0cf205bf011515d6" providerId="LiveId" clId="{7AD77E80-0D78-43F2-B667-50FC9C5BC3C5}" dt="2026-10-10T14:30:45.806" v="37"/>
          <ac:spMkLst>
            <pc:docMk/>
            <pc:sldMk cId="3969996159" sldId="319"/>
            <ac:spMk id="12" creationId="{23276854-AF0D-F5A9-DB6E-F437DD6F7D4A}"/>
          </ac:spMkLst>
        </pc:spChg>
        <pc:spChg chg="add del mod">
          <ac:chgData name="SATYAM TIWARI" userId="0cf205bf011515d6" providerId="LiveId" clId="{7AD77E80-0D78-43F2-B667-50FC9C5BC3C5}" dt="2026-10-10T14:37:46.893" v="159"/>
          <ac:spMkLst>
            <pc:docMk/>
            <pc:sldMk cId="3969996159" sldId="319"/>
            <ac:spMk id="14" creationId="{F3ECA699-D9F7-E01B-9312-A316D3EFB6CF}"/>
          </ac:spMkLst>
        </pc:spChg>
        <pc:graphicFrameChg chg="del">
          <ac:chgData name="SATYAM TIWARI" userId="0cf205bf011515d6" providerId="LiveId" clId="{7AD77E80-0D78-43F2-B667-50FC9C5BC3C5}" dt="2026-10-10T14:28:12.178" v="20" actId="21"/>
          <ac:graphicFrameMkLst>
            <pc:docMk/>
            <pc:sldMk cId="3969996159" sldId="319"/>
            <ac:graphicFrameMk id="2" creationId="{60DA6E42-DE1C-448C-AB8B-58A3C9F48C9E}"/>
          </ac:graphicFrameMkLst>
        </pc:graphicFrameChg>
        <pc:graphicFrameChg chg="del">
          <ac:chgData name="SATYAM TIWARI" userId="0cf205bf011515d6" providerId="LiveId" clId="{7AD77E80-0D78-43F2-B667-50FC9C5BC3C5}" dt="2026-10-10T14:28:41.851" v="23" actId="21"/>
          <ac:graphicFrameMkLst>
            <pc:docMk/>
            <pc:sldMk cId="3969996159" sldId="319"/>
            <ac:graphicFrameMk id="3" creationId="{69009C0B-C74D-49D7-ADB9-D233607A7E93}"/>
          </ac:graphicFrameMkLst>
        </pc:graphicFrameChg>
        <pc:graphicFrameChg chg="del mod">
          <ac:chgData name="SATYAM TIWARI" userId="0cf205bf011515d6" providerId="LiveId" clId="{7AD77E80-0D78-43F2-B667-50FC9C5BC3C5}" dt="2026-10-10T14:28:55.525" v="26" actId="21"/>
          <ac:graphicFrameMkLst>
            <pc:docMk/>
            <pc:sldMk cId="3969996159" sldId="319"/>
            <ac:graphicFrameMk id="4" creationId="{A3798800-6EAE-4495-A5B8-3698AEE685C3}"/>
          </ac:graphicFrameMkLst>
        </pc:graphicFrameChg>
        <pc:graphicFrameChg chg="del">
          <ac:chgData name="SATYAM TIWARI" userId="0cf205bf011515d6" providerId="LiveId" clId="{7AD77E80-0D78-43F2-B667-50FC9C5BC3C5}" dt="2026-10-10T14:30:13.250" v="31" actId="21"/>
          <ac:graphicFrameMkLst>
            <pc:docMk/>
            <pc:sldMk cId="3969996159" sldId="319"/>
            <ac:graphicFrameMk id="5" creationId="{DE9B52AD-895B-4FD3-8A77-CC7F02C9A6EE}"/>
          </ac:graphicFrameMkLst>
        </pc:graphicFrameChg>
        <pc:graphicFrameChg chg="add del">
          <ac:chgData name="SATYAM TIWARI" userId="0cf205bf011515d6" providerId="LiveId" clId="{7AD77E80-0D78-43F2-B667-50FC9C5BC3C5}" dt="2026-10-10T14:37:46.893" v="157" actId="478"/>
          <ac:graphicFrameMkLst>
            <pc:docMk/>
            <pc:sldMk cId="3969996159" sldId="319"/>
            <ac:graphicFrameMk id="10" creationId="{77B2EF08-4EFF-C2D4-1F29-DE0094D19582}"/>
          </ac:graphicFrameMkLst>
        </pc:graphicFrameChg>
      </pc:sldChg>
      <pc:sldChg chg="ord">
        <pc:chgData name="SATYAM TIWARI" userId="0cf205bf011515d6" providerId="LiveId" clId="{7AD77E80-0D78-43F2-B667-50FC9C5BC3C5}" dt="2026-10-10T14:53:12.361" v="166"/>
        <pc:sldMkLst>
          <pc:docMk/>
          <pc:sldMk cId="2045556914" sldId="324"/>
        </pc:sldMkLst>
      </pc:sldChg>
      <pc:sldChg chg="add del">
        <pc:chgData name="SATYAM TIWARI" userId="0cf205bf011515d6" providerId="LiveId" clId="{7AD77E80-0D78-43F2-B667-50FC9C5BC3C5}" dt="2026-10-10T14:18:00.710" v="10"/>
        <pc:sldMkLst>
          <pc:docMk/>
          <pc:sldMk cId="3792920165" sldId="325"/>
        </pc:sldMkLst>
      </pc:sldChg>
      <pc:sldChg chg="addSp delSp modSp new mod ord">
        <pc:chgData name="SATYAM TIWARI" userId="0cf205bf011515d6" providerId="LiveId" clId="{7AD77E80-0D78-43F2-B667-50FC9C5BC3C5}" dt="2026-10-10T15:50:48.470" v="170"/>
        <pc:sldMkLst>
          <pc:docMk/>
          <pc:sldMk cId="4242171281" sldId="325"/>
        </pc:sldMkLst>
        <pc:spChg chg="del">
          <ac:chgData name="SATYAM TIWARI" userId="0cf205bf011515d6" providerId="LiveId" clId="{7AD77E80-0D78-43F2-B667-50FC9C5BC3C5}" dt="2026-10-10T14:27:49.513" v="15" actId="21"/>
          <ac:spMkLst>
            <pc:docMk/>
            <pc:sldMk cId="4242171281" sldId="325"/>
            <ac:spMk id="2" creationId="{70022CE9-219B-8DDA-A9B1-173D115DC949}"/>
          </ac:spMkLst>
        </pc:spChg>
        <pc:spChg chg="del">
          <ac:chgData name="SATYAM TIWARI" userId="0cf205bf011515d6" providerId="LiveId" clId="{7AD77E80-0D78-43F2-B667-50FC9C5BC3C5}" dt="2026-10-10T14:27:56.002" v="16" actId="21"/>
          <ac:spMkLst>
            <pc:docMk/>
            <pc:sldMk cId="4242171281" sldId="325"/>
            <ac:spMk id="3" creationId="{E6F606E7-DF57-9903-8735-3B76EF8DAF7B}"/>
          </ac:spMkLst>
        </pc:spChg>
        <pc:spChg chg="del">
          <ac:chgData name="SATYAM TIWARI" userId="0cf205bf011515d6" providerId="LiveId" clId="{7AD77E80-0D78-43F2-B667-50FC9C5BC3C5}" dt="2026-10-10T14:27:45.531" v="14" actId="21"/>
          <ac:spMkLst>
            <pc:docMk/>
            <pc:sldMk cId="4242171281" sldId="325"/>
            <ac:spMk id="4" creationId="{33213D5D-B5CE-5C8A-F2D9-8D0A8F44D317}"/>
          </ac:spMkLst>
        </pc:spChg>
        <pc:spChg chg="add del mod">
          <ac:chgData name="SATYAM TIWARI" userId="0cf205bf011515d6" providerId="LiveId" clId="{7AD77E80-0D78-43F2-B667-50FC9C5BC3C5}" dt="2026-10-10T14:28:03.483" v="19"/>
          <ac:spMkLst>
            <pc:docMk/>
            <pc:sldMk cId="4242171281" sldId="325"/>
            <ac:spMk id="5" creationId="{D13E749E-C2B5-2B25-0C85-852D1B08874B}"/>
          </ac:spMkLst>
        </pc:spChg>
        <pc:spChg chg="add mod">
          <ac:chgData name="SATYAM TIWARI" userId="0cf205bf011515d6" providerId="LiveId" clId="{7AD77E80-0D78-43F2-B667-50FC9C5BC3C5}" dt="2026-10-10T14:31:40.406" v="67" actId="20577"/>
          <ac:spMkLst>
            <pc:docMk/>
            <pc:sldMk cId="4242171281" sldId="325"/>
            <ac:spMk id="14" creationId="{080E12A1-109F-9016-47A9-5BE28076C62F}"/>
          </ac:spMkLst>
        </pc:spChg>
        <pc:spChg chg="add mod">
          <ac:chgData name="SATYAM TIWARI" userId="0cf205bf011515d6" providerId="LiveId" clId="{7AD77E80-0D78-43F2-B667-50FC9C5BC3C5}" dt="2026-10-10T14:35:38.555" v="134" actId="207"/>
          <ac:spMkLst>
            <pc:docMk/>
            <pc:sldMk cId="4242171281" sldId="325"/>
            <ac:spMk id="15" creationId="{6231E312-8D86-B798-8D40-96D201087820}"/>
          </ac:spMkLst>
        </pc:spChg>
        <pc:spChg chg="add del mod">
          <ac:chgData name="SATYAM TIWARI" userId="0cf205bf011515d6" providerId="LiveId" clId="{7AD77E80-0D78-43F2-B667-50FC9C5BC3C5}" dt="2026-10-10T14:32:09.093" v="74"/>
          <ac:spMkLst>
            <pc:docMk/>
            <pc:sldMk cId="4242171281" sldId="325"/>
            <ac:spMk id="16" creationId="{B02FE28E-0065-FC59-B51D-2AC74F451204}"/>
          </ac:spMkLst>
        </pc:spChg>
        <pc:spChg chg="add del mod">
          <ac:chgData name="SATYAM TIWARI" userId="0cf205bf011515d6" providerId="LiveId" clId="{7AD77E80-0D78-43F2-B667-50FC9C5BC3C5}" dt="2026-10-10T14:32:18.346" v="78"/>
          <ac:spMkLst>
            <pc:docMk/>
            <pc:sldMk cId="4242171281" sldId="325"/>
            <ac:spMk id="17" creationId="{F99F6C58-4BE6-6198-AB13-90A979979D00}"/>
          </ac:spMkLst>
        </pc:spChg>
        <pc:spChg chg="add mod">
          <ac:chgData name="SATYAM TIWARI" userId="0cf205bf011515d6" providerId="LiveId" clId="{7AD77E80-0D78-43F2-B667-50FC9C5BC3C5}" dt="2026-10-10T14:35:29.699" v="131" actId="207"/>
          <ac:spMkLst>
            <pc:docMk/>
            <pc:sldMk cId="4242171281" sldId="325"/>
            <ac:spMk id="19" creationId="{4E755549-8798-7FE6-079C-8E71F03C3448}"/>
          </ac:spMkLst>
        </pc:spChg>
        <pc:spChg chg="add mod">
          <ac:chgData name="SATYAM TIWARI" userId="0cf205bf011515d6" providerId="LiveId" clId="{7AD77E80-0D78-43F2-B667-50FC9C5BC3C5}" dt="2026-10-10T14:35:35.159" v="133" actId="207"/>
          <ac:spMkLst>
            <pc:docMk/>
            <pc:sldMk cId="4242171281" sldId="325"/>
            <ac:spMk id="20" creationId="{B28EBFAA-5230-8941-833B-2A1FDBC0308B}"/>
          </ac:spMkLst>
        </pc:spChg>
        <pc:spChg chg="add mod">
          <ac:chgData name="SATYAM TIWARI" userId="0cf205bf011515d6" providerId="LiveId" clId="{7AD77E80-0D78-43F2-B667-50FC9C5BC3C5}" dt="2026-10-10T14:35:41.041" v="135" actId="207"/>
          <ac:spMkLst>
            <pc:docMk/>
            <pc:sldMk cId="4242171281" sldId="325"/>
            <ac:spMk id="21" creationId="{840D253F-BE09-D44E-3D1B-D172BFA1363E}"/>
          </ac:spMkLst>
        </pc:spChg>
        <pc:graphicFrameChg chg="add mod">
          <ac:chgData name="SATYAM TIWARI" userId="0cf205bf011515d6" providerId="LiveId" clId="{7AD77E80-0D78-43F2-B667-50FC9C5BC3C5}" dt="2026-10-10T14:28:36.591" v="22" actId="1076"/>
          <ac:graphicFrameMkLst>
            <pc:docMk/>
            <pc:sldMk cId="4242171281" sldId="325"/>
            <ac:graphicFrameMk id="7" creationId="{FA83E4F6-0B65-CA8D-50D2-D1BE33D747ED}"/>
          </ac:graphicFrameMkLst>
        </pc:graphicFrameChg>
        <pc:graphicFrameChg chg="add mod">
          <ac:chgData name="SATYAM TIWARI" userId="0cf205bf011515d6" providerId="LiveId" clId="{7AD77E80-0D78-43F2-B667-50FC9C5BC3C5}" dt="2026-10-10T14:29:03.403" v="28" actId="1076"/>
          <ac:graphicFrameMkLst>
            <pc:docMk/>
            <pc:sldMk cId="4242171281" sldId="325"/>
            <ac:graphicFrameMk id="9" creationId="{2A74AE97-6CEB-3716-847C-297FFB64E3DF}"/>
          </ac:graphicFrameMkLst>
        </pc:graphicFrameChg>
        <pc:graphicFrameChg chg="add mod">
          <ac:chgData name="SATYAM TIWARI" userId="0cf205bf011515d6" providerId="LiveId" clId="{7AD77E80-0D78-43F2-B667-50FC9C5BC3C5}" dt="2026-10-10T14:29:10.387" v="29" actId="1076"/>
          <ac:graphicFrameMkLst>
            <pc:docMk/>
            <pc:sldMk cId="4242171281" sldId="325"/>
            <ac:graphicFrameMk id="11" creationId="{841BC076-9CCC-63EC-860E-D62BB18FF837}"/>
          </ac:graphicFrameMkLst>
        </pc:graphicFrameChg>
        <pc:graphicFrameChg chg="add mod">
          <ac:chgData name="SATYAM TIWARI" userId="0cf205bf011515d6" providerId="LiveId" clId="{7AD77E80-0D78-43F2-B667-50FC9C5BC3C5}" dt="2026-10-10T14:30:27.396" v="33" actId="1076"/>
          <ac:graphicFrameMkLst>
            <pc:docMk/>
            <pc:sldMk cId="4242171281" sldId="325"/>
            <ac:graphicFrameMk id="13" creationId="{8D26B719-9106-9CE5-2924-0022120A9DD2}"/>
          </ac:graphicFrameMkLst>
        </pc:graphicFrameChg>
      </pc:sldChg>
      <pc:sldChg chg="add del">
        <pc:chgData name="SATYAM TIWARI" userId="0cf205bf011515d6" providerId="LiveId" clId="{7AD77E80-0D78-43F2-B667-50FC9C5BC3C5}" dt="2026-10-10T14:17:59.330" v="9"/>
        <pc:sldMkLst>
          <pc:docMk/>
          <pc:sldMk cId="3073176078" sldId="326"/>
        </pc:sldMkLst>
      </pc:sldChg>
      <pc:sldChg chg="add del">
        <pc:chgData name="SATYAM TIWARI" userId="0cf205bf011515d6" providerId="LiveId" clId="{7AD77E80-0D78-43F2-B667-50FC9C5BC3C5}" dt="2026-10-10T14:16:58.468" v="5"/>
        <pc:sldMkLst>
          <pc:docMk/>
          <pc:sldMk cId="2626978182" sldId="32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6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7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8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9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10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11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9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package" Target="../embeddings/Microsoft_Excel_Worksheet12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0.xml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package" Target="../embeddings/Microsoft_Excel_Worksheet13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1.xml"/><Relationship Id="rId2" Type="http://schemas.microsoft.com/office/2011/relationships/chartColorStyle" Target="colors11.xml"/><Relationship Id="rId1" Type="http://schemas.microsoft.com/office/2011/relationships/chartStyle" Target="style11.xml"/><Relationship Id="rId4" Type="http://schemas.openxmlformats.org/officeDocument/2006/relationships/package" Target="../embeddings/Microsoft_Excel_Worksheet14.xlsx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8.xml"/><Relationship Id="rId2" Type="http://schemas.microsoft.com/office/2011/relationships/chartStyle" Target="style8.xml"/><Relationship Id="rId1" Type="http://schemas.openxmlformats.org/officeDocument/2006/relationships/oleObject" Target="https://d.docs.live.net/0CF205BF011515D6/Desktop/New%20folder/Copy%20of%20dataset_1.xlsx" TargetMode="External"/><Relationship Id="rId4" Type="http://schemas.openxmlformats.org/officeDocument/2006/relationships/themeOverride" Target="../theme/themeOverrid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[Copy of dataset_1.xlsx]Sheet9!PivotTable2</c:name>
    <c:fmtId val="47"/>
  </c:pivotSource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 dirty="0"/>
              <a:t>Holiday</a:t>
            </a:r>
            <a:r>
              <a:rPr lang="en-IN" b="1" baseline="0" dirty="0"/>
              <a:t> vs Non Holiday</a:t>
            </a:r>
            <a:endParaRPr lang="en-IN" b="1" dirty="0"/>
          </a:p>
        </c:rich>
      </c:tx>
      <c:layout>
        <c:manualLayout>
          <c:xMode val="edge"/>
          <c:yMode val="edge"/>
          <c:x val="0.13781512605042015"/>
          <c:y val="7.81755090110180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3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4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6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7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9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0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  <c:pivotFmt>
        <c:idx val="12"/>
        <c:spPr>
          <a:solidFill>
            <a:schemeClr val="accent2"/>
          </a:solidFill>
          <a:ln w="19050">
            <a:solidFill>
              <a:schemeClr val="lt1"/>
            </a:solidFill>
          </a:ln>
          <a:effectLst/>
        </c:spPr>
      </c:pivotFmt>
    </c:pivotFmts>
    <c:plotArea>
      <c:layout/>
      <c:pieChart>
        <c:varyColors val="1"/>
        <c:ser>
          <c:idx val="0"/>
          <c:order val="0"/>
          <c:tx>
            <c:strRef>
              <c:f>Sheet9!$B$3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8FB-45EB-BCD1-A385BBC6E8DE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8FB-45EB-BCD1-A385BBC6E8DE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Sheet9!$A$4:$A$6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Sheet9!$B$4:$B$6</c:f>
              <c:numCache>
                <c:formatCode>General</c:formatCode>
                <c:ptCount val="2"/>
                <c:pt idx="0">
                  <c:v>976</c:v>
                </c:pt>
                <c:pt idx="1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8FB-45EB-BCD1-A385BBC6E8D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5CDCE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pivotSource>
    <c:name>[Copy of dataset_1.xlsx]Sheet3!PivotTable1</c:name>
    <c:fmtId val="2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Demand By Hour</a:t>
            </a:r>
          </a:p>
        </c:rich>
      </c:tx>
      <c:layout>
        <c:manualLayout>
          <c:xMode val="edge"/>
          <c:yMode val="edge"/>
          <c:x val="0.32761833732532064"/>
          <c:y val="5.77986262355503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Sheet3!$B$3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Sheet3!$A$4:$A$28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Sheet3!$B$4:$B$28</c:f>
              <c:numCache>
                <c:formatCode>General</c:formatCode>
                <c:ptCount val="24"/>
                <c:pt idx="0">
                  <c:v>703</c:v>
                </c:pt>
                <c:pt idx="1">
                  <c:v>460</c:v>
                </c:pt>
                <c:pt idx="2">
                  <c:v>294</c:v>
                </c:pt>
                <c:pt idx="3">
                  <c:v>151</c:v>
                </c:pt>
                <c:pt idx="4">
                  <c:v>69</c:v>
                </c:pt>
                <c:pt idx="5">
                  <c:v>164</c:v>
                </c:pt>
                <c:pt idx="6">
                  <c:v>822</c:v>
                </c:pt>
                <c:pt idx="7">
                  <c:v>2339</c:v>
                </c:pt>
                <c:pt idx="8">
                  <c:v>5388</c:v>
                </c:pt>
                <c:pt idx="9">
                  <c:v>3672</c:v>
                </c:pt>
                <c:pt idx="10">
                  <c:v>2253</c:v>
                </c:pt>
                <c:pt idx="11">
                  <c:v>2494</c:v>
                </c:pt>
                <c:pt idx="12">
                  <c:v>3283</c:v>
                </c:pt>
                <c:pt idx="13">
                  <c:v>3376</c:v>
                </c:pt>
                <c:pt idx="14">
                  <c:v>3200</c:v>
                </c:pt>
                <c:pt idx="15">
                  <c:v>3352</c:v>
                </c:pt>
                <c:pt idx="16">
                  <c:v>3928</c:v>
                </c:pt>
                <c:pt idx="17">
                  <c:v>6169</c:v>
                </c:pt>
                <c:pt idx="18">
                  <c:v>5283</c:v>
                </c:pt>
                <c:pt idx="19">
                  <c:v>3661</c:v>
                </c:pt>
                <c:pt idx="20">
                  <c:v>2656</c:v>
                </c:pt>
                <c:pt idx="21">
                  <c:v>1996</c:v>
                </c:pt>
                <c:pt idx="22">
                  <c:v>1508</c:v>
                </c:pt>
                <c:pt idx="23">
                  <c:v>1083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B7A-455B-9472-58588D9385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53783072"/>
        <c:axId val="962452720"/>
      </c:lineChart>
      <c:catAx>
        <c:axId val="1153783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62452720"/>
        <c:crosses val="autoZero"/>
        <c:auto val="1"/>
        <c:lblAlgn val="ctr"/>
        <c:lblOffset val="100"/>
        <c:noMultiLvlLbl val="0"/>
      </c:catAx>
      <c:valAx>
        <c:axId val="9624527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53783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[Copy of dataset_1.xlsx]Sheet4!PivotTable1</c:name>
    <c:fmtId val="7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Demand</a:t>
            </a:r>
            <a:r>
              <a:rPr lang="en-IN" b="1" baseline="0"/>
              <a:t> Hour &amp; Weather Situation</a:t>
            </a:r>
            <a:endParaRPr lang="en-IN" b="1"/>
          </a:p>
        </c:rich>
      </c:tx>
      <c:layout>
        <c:manualLayout>
          <c:xMode val="edge"/>
          <c:yMode val="edge"/>
          <c:x val="0.19822222222222222"/>
          <c:y val="4.990522018081073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5118412501700243"/>
          <c:y val="0.31702354651711706"/>
          <c:w val="0.57526057803235253"/>
          <c:h val="0.41463396212164128"/>
        </c:manualLayout>
      </c:layout>
      <c:lineChart>
        <c:grouping val="standard"/>
        <c:varyColors val="0"/>
        <c:ser>
          <c:idx val="0"/>
          <c:order val="0"/>
          <c:tx>
            <c:strRef>
              <c:f>Sheet4!$B$3:$B$4</c:f>
              <c:strCache>
                <c:ptCount val="1"/>
                <c:pt idx="0">
                  <c:v>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Sheet4!$A$5:$A$29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Sheet4!$B$5:$B$29</c:f>
              <c:numCache>
                <c:formatCode>General</c:formatCode>
                <c:ptCount val="24"/>
                <c:pt idx="0">
                  <c:v>466</c:v>
                </c:pt>
                <c:pt idx="1">
                  <c:v>298</c:v>
                </c:pt>
                <c:pt idx="2">
                  <c:v>168</c:v>
                </c:pt>
                <c:pt idx="3">
                  <c:v>91</c:v>
                </c:pt>
                <c:pt idx="4">
                  <c:v>37</c:v>
                </c:pt>
                <c:pt idx="5">
                  <c:v>97</c:v>
                </c:pt>
                <c:pt idx="6">
                  <c:v>553</c:v>
                </c:pt>
                <c:pt idx="7">
                  <c:v>1759</c:v>
                </c:pt>
                <c:pt idx="8">
                  <c:v>3524</c:v>
                </c:pt>
                <c:pt idx="9">
                  <c:v>2101</c:v>
                </c:pt>
                <c:pt idx="10">
                  <c:v>1304</c:v>
                </c:pt>
                <c:pt idx="11">
                  <c:v>1511</c:v>
                </c:pt>
                <c:pt idx="12">
                  <c:v>1841</c:v>
                </c:pt>
                <c:pt idx="13">
                  <c:v>2145</c:v>
                </c:pt>
                <c:pt idx="14">
                  <c:v>1887</c:v>
                </c:pt>
                <c:pt idx="15">
                  <c:v>1987</c:v>
                </c:pt>
                <c:pt idx="16">
                  <c:v>2435</c:v>
                </c:pt>
                <c:pt idx="17">
                  <c:v>4328</c:v>
                </c:pt>
                <c:pt idx="18">
                  <c:v>3474</c:v>
                </c:pt>
                <c:pt idx="19">
                  <c:v>2536</c:v>
                </c:pt>
                <c:pt idx="20">
                  <c:v>1815</c:v>
                </c:pt>
                <c:pt idx="21">
                  <c:v>1380</c:v>
                </c:pt>
                <c:pt idx="22">
                  <c:v>960</c:v>
                </c:pt>
                <c:pt idx="23">
                  <c:v>676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99-45EA-89A0-EDFADE083552}"/>
            </c:ext>
          </c:extLst>
        </c:ser>
        <c:ser>
          <c:idx val="1"/>
          <c:order val="1"/>
          <c:tx>
            <c:strRef>
              <c:f>Sheet4!$C$3:$C$4</c:f>
              <c:strCache>
                <c:ptCount val="1"/>
                <c:pt idx="0">
                  <c:v>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Sheet4!$A$5:$A$29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Sheet4!$C$5:$C$29</c:f>
              <c:numCache>
                <c:formatCode>General</c:formatCode>
                <c:ptCount val="24"/>
                <c:pt idx="0">
                  <c:v>219</c:v>
                </c:pt>
                <c:pt idx="1">
                  <c:v>145</c:v>
                </c:pt>
                <c:pt idx="2">
                  <c:v>104</c:v>
                </c:pt>
                <c:pt idx="3">
                  <c:v>50</c:v>
                </c:pt>
                <c:pt idx="4">
                  <c:v>20</c:v>
                </c:pt>
                <c:pt idx="5">
                  <c:v>46</c:v>
                </c:pt>
                <c:pt idx="6">
                  <c:v>215</c:v>
                </c:pt>
                <c:pt idx="7">
                  <c:v>445</c:v>
                </c:pt>
                <c:pt idx="8">
                  <c:v>1469</c:v>
                </c:pt>
                <c:pt idx="9">
                  <c:v>1372</c:v>
                </c:pt>
                <c:pt idx="10">
                  <c:v>838</c:v>
                </c:pt>
                <c:pt idx="11">
                  <c:v>865</c:v>
                </c:pt>
                <c:pt idx="12">
                  <c:v>1313</c:v>
                </c:pt>
                <c:pt idx="13">
                  <c:v>1081</c:v>
                </c:pt>
                <c:pt idx="14">
                  <c:v>1125</c:v>
                </c:pt>
                <c:pt idx="15">
                  <c:v>1188</c:v>
                </c:pt>
                <c:pt idx="16">
                  <c:v>1310</c:v>
                </c:pt>
                <c:pt idx="17">
                  <c:v>1815</c:v>
                </c:pt>
                <c:pt idx="18">
                  <c:v>1679</c:v>
                </c:pt>
                <c:pt idx="19">
                  <c:v>889</c:v>
                </c:pt>
                <c:pt idx="20">
                  <c:v>614</c:v>
                </c:pt>
                <c:pt idx="21">
                  <c:v>513</c:v>
                </c:pt>
                <c:pt idx="22">
                  <c:v>460</c:v>
                </c:pt>
                <c:pt idx="23">
                  <c:v>331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99-45EA-89A0-EDFADE083552}"/>
            </c:ext>
          </c:extLst>
        </c:ser>
        <c:ser>
          <c:idx val="2"/>
          <c:order val="2"/>
          <c:tx>
            <c:strRef>
              <c:f>Sheet4!$D$3:$D$4</c:f>
              <c:strCache>
                <c:ptCount val="1"/>
                <c:pt idx="0">
                  <c:v>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Sheet4!$A$5:$A$29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Sheet4!$D$5:$D$29</c:f>
              <c:numCache>
                <c:formatCode>General</c:formatCode>
                <c:ptCount val="24"/>
                <c:pt idx="0">
                  <c:v>18</c:v>
                </c:pt>
                <c:pt idx="1">
                  <c:v>17</c:v>
                </c:pt>
                <c:pt idx="2">
                  <c:v>22</c:v>
                </c:pt>
                <c:pt idx="3">
                  <c:v>10</c:v>
                </c:pt>
                <c:pt idx="4">
                  <c:v>12</c:v>
                </c:pt>
                <c:pt idx="5">
                  <c:v>21</c:v>
                </c:pt>
                <c:pt idx="6">
                  <c:v>54</c:v>
                </c:pt>
                <c:pt idx="7">
                  <c:v>135</c:v>
                </c:pt>
                <c:pt idx="8">
                  <c:v>395</c:v>
                </c:pt>
                <c:pt idx="9">
                  <c:v>199</c:v>
                </c:pt>
                <c:pt idx="10">
                  <c:v>111</c:v>
                </c:pt>
                <c:pt idx="11">
                  <c:v>118</c:v>
                </c:pt>
                <c:pt idx="12">
                  <c:v>129</c:v>
                </c:pt>
                <c:pt idx="13">
                  <c:v>150</c:v>
                </c:pt>
                <c:pt idx="14">
                  <c:v>188</c:v>
                </c:pt>
                <c:pt idx="15">
                  <c:v>177</c:v>
                </c:pt>
                <c:pt idx="16">
                  <c:v>147</c:v>
                </c:pt>
                <c:pt idx="17">
                  <c:v>26</c:v>
                </c:pt>
                <c:pt idx="18">
                  <c:v>130</c:v>
                </c:pt>
                <c:pt idx="19">
                  <c:v>236</c:v>
                </c:pt>
                <c:pt idx="20">
                  <c:v>227</c:v>
                </c:pt>
                <c:pt idx="21">
                  <c:v>103</c:v>
                </c:pt>
                <c:pt idx="22">
                  <c:v>88</c:v>
                </c:pt>
                <c:pt idx="23">
                  <c:v>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99-45EA-89A0-EDFADE083552}"/>
            </c:ext>
          </c:extLst>
        </c:ser>
        <c:ser>
          <c:idx val="3"/>
          <c:order val="3"/>
          <c:tx>
            <c:strRef>
              <c:f>Sheet4!$E$3:$E$4</c:f>
              <c:strCache>
                <c:ptCount val="1"/>
                <c:pt idx="0">
                  <c:v>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Sheet4!$A$5:$A$29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Sheet4!$E$5:$E$29</c:f>
              <c:numCache>
                <c:formatCode>General</c:formatCode>
                <c:ptCount val="24"/>
                <c:pt idx="16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F99-45EA-89A0-EDFADE0835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760100863"/>
        <c:axId val="1230577647"/>
      </c:lineChart>
      <c:catAx>
        <c:axId val="7601008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0577647"/>
        <c:crosses val="autoZero"/>
        <c:auto val="1"/>
        <c:lblAlgn val="ctr"/>
        <c:lblOffset val="100"/>
        <c:noMultiLvlLbl val="0"/>
      </c:catAx>
      <c:valAx>
        <c:axId val="12305776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601008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[Copy of dataset_1.xlsx]Sheet5!PivotTable2</c:name>
    <c:fmtId val="2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>
                <a:solidFill>
                  <a:schemeClr val="tx2"/>
                </a:solidFill>
              </a:rPr>
              <a:t>Holiday</a:t>
            </a:r>
            <a:r>
              <a:rPr lang="en-US" b="1" baseline="0">
                <a:solidFill>
                  <a:schemeClr val="tx2"/>
                </a:solidFill>
              </a:rPr>
              <a:t> Busiest Hour</a:t>
            </a:r>
            <a:endParaRPr lang="en-US" b="1">
              <a:solidFill>
                <a:schemeClr val="tx2"/>
              </a:solidFill>
            </a:endParaRPr>
          </a:p>
        </c:rich>
      </c:tx>
      <c:layout>
        <c:manualLayout>
          <c:xMode val="edge"/>
          <c:yMode val="edge"/>
          <c:x val="0.32559711286089238"/>
          <c:y val="3.96252551764362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1"/>
            </a:solidFill>
            <a:ln w="9525">
              <a:solidFill>
                <a:schemeClr val="accent1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Sheet5!$B$3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Sheet5!$A$4:$A$28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Sheet5!$B$4:$B$28</c:f>
              <c:numCache>
                <c:formatCode>General</c:formatCode>
                <c:ptCount val="24"/>
                <c:pt idx="0">
                  <c:v>17</c:v>
                </c:pt>
                <c:pt idx="1">
                  <c:v>16</c:v>
                </c:pt>
                <c:pt idx="2">
                  <c:v>8</c:v>
                </c:pt>
                <c:pt idx="3">
                  <c:v>2</c:v>
                </c:pt>
                <c:pt idx="4">
                  <c:v>3</c:v>
                </c:pt>
                <c:pt idx="5">
                  <c:v>1</c:v>
                </c:pt>
                <c:pt idx="6">
                  <c:v>5</c:v>
                </c:pt>
                <c:pt idx="7">
                  <c:v>13</c:v>
                </c:pt>
                <c:pt idx="8">
                  <c:v>33</c:v>
                </c:pt>
                <c:pt idx="9">
                  <c:v>47</c:v>
                </c:pt>
                <c:pt idx="10">
                  <c:v>57</c:v>
                </c:pt>
                <c:pt idx="11">
                  <c:v>64</c:v>
                </c:pt>
                <c:pt idx="12">
                  <c:v>80</c:v>
                </c:pt>
                <c:pt idx="13">
                  <c:v>93</c:v>
                </c:pt>
                <c:pt idx="14">
                  <c:v>86</c:v>
                </c:pt>
                <c:pt idx="15">
                  <c:v>93</c:v>
                </c:pt>
                <c:pt idx="16">
                  <c:v>82</c:v>
                </c:pt>
                <c:pt idx="17">
                  <c:v>71</c:v>
                </c:pt>
                <c:pt idx="18">
                  <c:v>92</c:v>
                </c:pt>
                <c:pt idx="19">
                  <c:v>60</c:v>
                </c:pt>
                <c:pt idx="20">
                  <c:v>33</c:v>
                </c:pt>
                <c:pt idx="21">
                  <c:v>27</c:v>
                </c:pt>
                <c:pt idx="22">
                  <c:v>13</c:v>
                </c:pt>
                <c:pt idx="23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82-4B8A-AA66-F7EDB97120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8059887"/>
        <c:axId val="1663668943"/>
      </c:lineChart>
      <c:catAx>
        <c:axId val="17480598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668943"/>
        <c:crosses val="autoZero"/>
        <c:auto val="1"/>
        <c:lblAlgn val="ctr"/>
        <c:lblOffset val="100"/>
        <c:noMultiLvlLbl val="0"/>
      </c:catAx>
      <c:valAx>
        <c:axId val="166366894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80598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[Copy of dataset_1.xlsx]Sheet10!PivotTable5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Demand</a:t>
            </a:r>
            <a:r>
              <a:rPr lang="en-IN" b="1" baseline="0"/>
              <a:t> By Weather</a:t>
            </a:r>
            <a:endParaRPr lang="en-IN" b="1"/>
          </a:p>
        </c:rich>
      </c:tx>
      <c:layout>
        <c:manualLayout>
          <c:xMode val="edge"/>
          <c:yMode val="edge"/>
          <c:x val="0.26433333333333331"/>
          <c:y val="0.1054607757363662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Sheet10!$B$3</c:f>
              <c:strCache>
                <c:ptCount val="1"/>
                <c:pt idx="0">
                  <c:v>Average of 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Sheet10!$A$4:$A$8</c:f>
              <c:strCache>
                <c:ptCount val="4"/>
                <c:pt idx="0">
                  <c:v>Clear</c:v>
                </c:pt>
                <c:pt idx="1">
                  <c:v>Cloudy </c:v>
                </c:pt>
                <c:pt idx="2">
                  <c:v>Heavy Rain </c:v>
                </c:pt>
                <c:pt idx="3">
                  <c:v>Light Rain </c:v>
                </c:pt>
              </c:strCache>
            </c:strRef>
          </c:cat>
          <c:val>
            <c:numRef>
              <c:f>Sheet10!$B$4:$B$8</c:f>
              <c:numCache>
                <c:formatCode>General</c:formatCode>
                <c:ptCount val="4"/>
                <c:pt idx="0">
                  <c:v>5.2986798679867988</c:v>
                </c:pt>
                <c:pt idx="1">
                  <c:v>4.9773462783171523</c:v>
                </c:pt>
                <c:pt idx="2">
                  <c:v>1</c:v>
                </c:pt>
                <c:pt idx="3">
                  <c:v>2.0357142857142856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A1-4D86-952B-CCA3F7EA6934}"/>
            </c:ext>
          </c:extLst>
        </c:ser>
        <c:ser>
          <c:idx val="1"/>
          <c:order val="1"/>
          <c:tx>
            <c:strRef>
              <c:f>Sheet10!$C$3</c:f>
              <c:strCache>
                <c:ptCount val="1"/>
                <c:pt idx="0">
                  <c:v>Average of Registered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Sheet10!$A$4:$A$8</c:f>
              <c:strCache>
                <c:ptCount val="4"/>
                <c:pt idx="0">
                  <c:v>Clear</c:v>
                </c:pt>
                <c:pt idx="1">
                  <c:v>Cloudy </c:v>
                </c:pt>
                <c:pt idx="2">
                  <c:v>Heavy Rain </c:v>
                </c:pt>
                <c:pt idx="3">
                  <c:v>Light Rain </c:v>
                </c:pt>
              </c:strCache>
            </c:strRef>
          </c:cat>
          <c:val>
            <c:numRef>
              <c:f>Sheet10!$C$4:$C$8</c:f>
              <c:numCache>
                <c:formatCode>General</c:formatCode>
                <c:ptCount val="4"/>
                <c:pt idx="0">
                  <c:v>56.372937293729372</c:v>
                </c:pt>
                <c:pt idx="1">
                  <c:v>53.618122977346282</c:v>
                </c:pt>
                <c:pt idx="2">
                  <c:v>35</c:v>
                </c:pt>
                <c:pt idx="3">
                  <c:v>31.166666666666668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A1-4D86-952B-CCA3F7EA6934}"/>
            </c:ext>
          </c:extLst>
        </c:ser>
        <c:ser>
          <c:idx val="2"/>
          <c:order val="2"/>
          <c:tx>
            <c:strRef>
              <c:f>Sheet10!$D$3</c:f>
              <c:strCache>
                <c:ptCount val="1"/>
                <c:pt idx="0">
                  <c:v>Average of Count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Sheet10!$A$4:$A$8</c:f>
              <c:strCache>
                <c:ptCount val="4"/>
                <c:pt idx="0">
                  <c:v>Clear</c:v>
                </c:pt>
                <c:pt idx="1">
                  <c:v>Cloudy </c:v>
                </c:pt>
                <c:pt idx="2">
                  <c:v>Heavy Rain </c:v>
                </c:pt>
                <c:pt idx="3">
                  <c:v>Light Rain </c:v>
                </c:pt>
              </c:strCache>
            </c:strRef>
          </c:cat>
          <c:val>
            <c:numRef>
              <c:f>Sheet10!$D$4:$D$8</c:f>
              <c:numCache>
                <c:formatCode>General</c:formatCode>
                <c:ptCount val="4"/>
                <c:pt idx="0">
                  <c:v>61.671617161716171</c:v>
                </c:pt>
                <c:pt idx="1">
                  <c:v>58.595469255663431</c:v>
                </c:pt>
                <c:pt idx="2">
                  <c:v>36</c:v>
                </c:pt>
                <c:pt idx="3">
                  <c:v>33.202380952380949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CA1-4D86-952B-CCA3F7EA69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0467087"/>
        <c:axId val="1663759663"/>
      </c:barChart>
      <c:catAx>
        <c:axId val="169046708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759663"/>
        <c:crosses val="autoZero"/>
        <c:auto val="1"/>
        <c:lblAlgn val="ctr"/>
        <c:lblOffset val="100"/>
        <c:noMultiLvlLbl val="0"/>
      </c:catAx>
      <c:valAx>
        <c:axId val="16637596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046708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[Copy of dataset_1.xlsx]Sheet6!PivotTable3</c:name>
    <c:fmtId val="5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Working</a:t>
            </a:r>
            <a:r>
              <a:rPr lang="en-IN" b="1" baseline="0"/>
              <a:t> Days vs Holidays</a:t>
            </a:r>
            <a:endParaRPr lang="en-IN" b="1"/>
          </a:p>
        </c:rich>
      </c:tx>
      <c:layout>
        <c:manualLayout>
          <c:xMode val="edge"/>
          <c:yMode val="edge"/>
          <c:x val="0.26342344706911636"/>
          <c:y val="0.11934966462525518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Sheet6!$B$3</c:f>
              <c:strCache>
                <c:ptCount val="1"/>
                <c:pt idx="0">
                  <c:v>Average of 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Sheet6!$A$4:$A$6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Sheet6!$B$4:$B$6</c:f>
              <c:numCache>
                <c:formatCode>0.00</c:formatCode>
                <c:ptCount val="2"/>
                <c:pt idx="0">
                  <c:v>4.9221311475409832</c:v>
                </c:pt>
                <c:pt idx="1">
                  <c:v>4.875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41-401B-ABEA-CB2E6D572D49}"/>
            </c:ext>
          </c:extLst>
        </c:ser>
        <c:ser>
          <c:idx val="1"/>
          <c:order val="1"/>
          <c:tx>
            <c:strRef>
              <c:f>Sheet6!$C$3</c:f>
              <c:strCache>
                <c:ptCount val="1"/>
                <c:pt idx="0">
                  <c:v>Average of Registered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Sheet6!$A$4:$A$6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Sheet6!$C$4:$C$6</c:f>
              <c:numCache>
                <c:formatCode>0.00</c:formatCode>
                <c:ptCount val="2"/>
                <c:pt idx="0">
                  <c:v>53.790983606557376</c:v>
                </c:pt>
                <c:pt idx="1">
                  <c:v>36.791666666666664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41-401B-ABEA-CB2E6D572D49}"/>
            </c:ext>
          </c:extLst>
        </c:ser>
        <c:ser>
          <c:idx val="2"/>
          <c:order val="2"/>
          <c:tx>
            <c:strRef>
              <c:f>Sheet6!$D$3</c:f>
              <c:strCache>
                <c:ptCount val="1"/>
                <c:pt idx="0">
                  <c:v>Average of Count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Sheet6!$A$4:$A$6</c:f>
              <c:strCache>
                <c:ptCount val="2"/>
                <c:pt idx="0">
                  <c:v>FALSE</c:v>
                </c:pt>
                <c:pt idx="1">
                  <c:v>TRUE</c:v>
                </c:pt>
              </c:strCache>
            </c:strRef>
          </c:cat>
          <c:val>
            <c:numRef>
              <c:f>Sheet6!$D$4:$D$6</c:f>
              <c:numCache>
                <c:formatCode>0.00</c:formatCode>
                <c:ptCount val="2"/>
                <c:pt idx="0">
                  <c:v>58.713114754098363</c:v>
                </c:pt>
                <c:pt idx="1">
                  <c:v>41.666666666666664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41-401B-ABEA-CB2E6D572D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53443727"/>
        <c:axId val="1663736623"/>
      </c:barChart>
      <c:catAx>
        <c:axId val="125344372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736623"/>
        <c:crosses val="autoZero"/>
        <c:auto val="1"/>
        <c:lblAlgn val="ctr"/>
        <c:lblOffset val="100"/>
        <c:noMultiLvlLbl val="0"/>
      </c:catAx>
      <c:valAx>
        <c:axId val="16637366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344372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[Copy of dataset_1.xlsx]Sheet11!PivotTable6</c:name>
    <c:fmtId val="4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Bike</a:t>
            </a:r>
            <a:r>
              <a:rPr lang="en-IN" b="1" baseline="0"/>
              <a:t> Rentals Trend Over Time</a:t>
            </a:r>
            <a:endParaRPr lang="en-IN" b="1"/>
          </a:p>
        </c:rich>
      </c:tx>
      <c:layout>
        <c:manualLayout>
          <c:xMode val="edge"/>
          <c:yMode val="edge"/>
          <c:x val="0.2378956692913386"/>
          <c:y val="4.52755905511811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/>
          </a:solidFill>
          <a:ln w="28575" cap="rnd">
            <a:solidFill>
              <a:schemeClr val="accent6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6"/>
            </a:solidFill>
            <a:ln w="9525">
              <a:solidFill>
                <a:schemeClr val="accent6"/>
              </a:solidFill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Sheet11!$B$3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cat>
            <c:strRef>
              <c:f>Sheet11!$A$4:$A$49</c:f>
              <c:strCache>
                <c:ptCount val="45"/>
                <c:pt idx="0">
                  <c:v>01-Jan</c:v>
                </c:pt>
                <c:pt idx="1">
                  <c:v>02-Jan</c:v>
                </c:pt>
                <c:pt idx="2">
                  <c:v>03-Jan</c:v>
                </c:pt>
                <c:pt idx="3">
                  <c:v>04-Jan</c:v>
                </c:pt>
                <c:pt idx="4">
                  <c:v>05-Jan</c:v>
                </c:pt>
                <c:pt idx="5">
                  <c:v>06-Jan</c:v>
                </c:pt>
                <c:pt idx="6">
                  <c:v>07-Jan</c:v>
                </c:pt>
                <c:pt idx="7">
                  <c:v>08-Jan</c:v>
                </c:pt>
                <c:pt idx="8">
                  <c:v>09-Jan</c:v>
                </c:pt>
                <c:pt idx="9">
                  <c:v>10-Jan</c:v>
                </c:pt>
                <c:pt idx="10">
                  <c:v>11-Jan</c:v>
                </c:pt>
                <c:pt idx="11">
                  <c:v>12-Jan</c:v>
                </c:pt>
                <c:pt idx="12">
                  <c:v>13-Jan</c:v>
                </c:pt>
                <c:pt idx="13">
                  <c:v>14-Jan</c:v>
                </c:pt>
                <c:pt idx="14">
                  <c:v>15-Jan</c:v>
                </c:pt>
                <c:pt idx="15">
                  <c:v>16-Jan</c:v>
                </c:pt>
                <c:pt idx="16">
                  <c:v>17-Jan</c:v>
                </c:pt>
                <c:pt idx="17">
                  <c:v>18-Jan</c:v>
                </c:pt>
                <c:pt idx="18">
                  <c:v>19-Jan</c:v>
                </c:pt>
                <c:pt idx="19">
                  <c:v>20-Jan</c:v>
                </c:pt>
                <c:pt idx="20">
                  <c:v>21-Jan</c:v>
                </c:pt>
                <c:pt idx="21">
                  <c:v>22-Jan</c:v>
                </c:pt>
                <c:pt idx="22">
                  <c:v>23-Jan</c:v>
                </c:pt>
                <c:pt idx="23">
                  <c:v>24-Jan</c:v>
                </c:pt>
                <c:pt idx="24">
                  <c:v>25-Jan</c:v>
                </c:pt>
                <c:pt idx="25">
                  <c:v>26-Jan</c:v>
                </c:pt>
                <c:pt idx="26">
                  <c:v>27-Jan</c:v>
                </c:pt>
                <c:pt idx="27">
                  <c:v>28-Jan</c:v>
                </c:pt>
                <c:pt idx="28">
                  <c:v>29-Jan</c:v>
                </c:pt>
                <c:pt idx="29">
                  <c:v>30-Jan</c:v>
                </c:pt>
                <c:pt idx="30">
                  <c:v>31-Jan</c:v>
                </c:pt>
                <c:pt idx="31">
                  <c:v>01-Feb</c:v>
                </c:pt>
                <c:pt idx="32">
                  <c:v>02-Feb</c:v>
                </c:pt>
                <c:pt idx="33">
                  <c:v>03-Feb</c:v>
                </c:pt>
                <c:pt idx="34">
                  <c:v>04-Feb</c:v>
                </c:pt>
                <c:pt idx="35">
                  <c:v>05-Feb</c:v>
                </c:pt>
                <c:pt idx="36">
                  <c:v>06-Feb</c:v>
                </c:pt>
                <c:pt idx="37">
                  <c:v>07-Feb</c:v>
                </c:pt>
                <c:pt idx="38">
                  <c:v>08-Feb</c:v>
                </c:pt>
                <c:pt idx="39">
                  <c:v>09-Feb</c:v>
                </c:pt>
                <c:pt idx="40">
                  <c:v>10-Feb</c:v>
                </c:pt>
                <c:pt idx="41">
                  <c:v>11-Feb</c:v>
                </c:pt>
                <c:pt idx="42">
                  <c:v>12-Feb</c:v>
                </c:pt>
                <c:pt idx="43">
                  <c:v>13-Feb</c:v>
                </c:pt>
                <c:pt idx="44">
                  <c:v>14-Feb</c:v>
                </c:pt>
              </c:strCache>
            </c:strRef>
          </c:cat>
          <c:val>
            <c:numRef>
              <c:f>Sheet11!$B$4:$B$49</c:f>
              <c:numCache>
                <c:formatCode>General</c:formatCode>
                <c:ptCount val="45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4DE-4A72-9DEB-AC97455F36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60612175"/>
        <c:axId val="1663838863"/>
      </c:lineChart>
      <c:catAx>
        <c:axId val="1760612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3838863"/>
        <c:crosses val="autoZero"/>
        <c:auto val="1"/>
        <c:lblAlgn val="ctr"/>
        <c:lblOffset val="100"/>
        <c:noMultiLvlLbl val="0"/>
      </c:catAx>
      <c:valAx>
        <c:axId val="16638388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60612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Windspeed</a:t>
            </a:r>
            <a:r>
              <a:rPr lang="en-US" b="1" baseline="0"/>
              <a:t> vs Total Rental</a:t>
            </a:r>
            <a:endParaRPr lang="en-US" b="1"/>
          </a:p>
        </c:rich>
      </c:tx>
      <c:layout>
        <c:manualLayout>
          <c:xMode val="edge"/>
          <c:yMode val="edge"/>
          <c:x val="0.2021539548022598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Sheet14!$B$26</c:f>
              <c:strCache>
                <c:ptCount val="1"/>
                <c:pt idx="0">
                  <c:v>Sum of Count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6"/>
              </a:solidFill>
              <a:ln w="9525">
                <a:solidFill>
                  <a:schemeClr val="accent6"/>
                </a:solidFill>
              </a:ln>
              <a:effectLst/>
            </c:spPr>
          </c:marker>
          <c:xVal>
            <c:numRef>
              <c:f>Sheet14!$A$27:$A$46</c:f>
              <c:numCache>
                <c:formatCode>General</c:formatCode>
                <c:ptCount val="20"/>
                <c:pt idx="0">
                  <c:v>0</c:v>
                </c:pt>
                <c:pt idx="1">
                  <c:v>8.9599999999999999E-2</c:v>
                </c:pt>
                <c:pt idx="2">
                  <c:v>0.1045</c:v>
                </c:pt>
                <c:pt idx="3">
                  <c:v>0.1343</c:v>
                </c:pt>
                <c:pt idx="4">
                  <c:v>0.16420000000000001</c:v>
                </c:pt>
                <c:pt idx="5">
                  <c:v>0.19400000000000001</c:v>
                </c:pt>
                <c:pt idx="6">
                  <c:v>0.22389999999999999</c:v>
                </c:pt>
                <c:pt idx="7">
                  <c:v>0.25369999999999998</c:v>
                </c:pt>
                <c:pt idx="8">
                  <c:v>0.28360000000000002</c:v>
                </c:pt>
                <c:pt idx="9">
                  <c:v>0.29849999999999999</c:v>
                </c:pt>
                <c:pt idx="10">
                  <c:v>0.32840000000000003</c:v>
                </c:pt>
                <c:pt idx="11">
                  <c:v>0.35820000000000002</c:v>
                </c:pt>
                <c:pt idx="12">
                  <c:v>0.3881</c:v>
                </c:pt>
                <c:pt idx="13">
                  <c:v>0.41789999999999999</c:v>
                </c:pt>
                <c:pt idx="14">
                  <c:v>0.44779999999999998</c:v>
                </c:pt>
                <c:pt idx="15">
                  <c:v>0.4627</c:v>
                </c:pt>
                <c:pt idx="16">
                  <c:v>0.49249999999999999</c:v>
                </c:pt>
                <c:pt idx="17">
                  <c:v>0.52239999999999998</c:v>
                </c:pt>
                <c:pt idx="18">
                  <c:v>0.55220000000000002</c:v>
                </c:pt>
                <c:pt idx="19">
                  <c:v>0.58209999999999995</c:v>
                </c:pt>
              </c:numCache>
            </c:numRef>
          </c:xVal>
          <c:yVal>
            <c:numRef>
              <c:f>Sheet14!$B$27:$B$46</c:f>
              <c:numCache>
                <c:formatCode>General</c:formatCode>
                <c:ptCount val="20"/>
                <c:pt idx="0">
                  <c:v>7845</c:v>
                </c:pt>
                <c:pt idx="1">
                  <c:v>4149</c:v>
                </c:pt>
                <c:pt idx="2">
                  <c:v>4350</c:v>
                </c:pt>
                <c:pt idx="3">
                  <c:v>5261</c:v>
                </c:pt>
                <c:pt idx="4">
                  <c:v>5609</c:v>
                </c:pt>
                <c:pt idx="5">
                  <c:v>4668</c:v>
                </c:pt>
                <c:pt idx="6">
                  <c:v>3546</c:v>
                </c:pt>
                <c:pt idx="7">
                  <c:v>4074</c:v>
                </c:pt>
                <c:pt idx="8">
                  <c:v>3516</c:v>
                </c:pt>
                <c:pt idx="9">
                  <c:v>2872</c:v>
                </c:pt>
                <c:pt idx="10">
                  <c:v>3608</c:v>
                </c:pt>
                <c:pt idx="11">
                  <c:v>2069</c:v>
                </c:pt>
                <c:pt idx="12">
                  <c:v>1250</c:v>
                </c:pt>
                <c:pt idx="13">
                  <c:v>1432</c:v>
                </c:pt>
                <c:pt idx="14">
                  <c:v>1107</c:v>
                </c:pt>
                <c:pt idx="15">
                  <c:v>881</c:v>
                </c:pt>
                <c:pt idx="16">
                  <c:v>629</c:v>
                </c:pt>
                <c:pt idx="17">
                  <c:v>682</c:v>
                </c:pt>
                <c:pt idx="18">
                  <c:v>374</c:v>
                </c:pt>
                <c:pt idx="19">
                  <c:v>382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86DA-4C8D-9C7E-F6070C8302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44538992"/>
        <c:axId val="1991376656"/>
      </c:scatterChart>
      <c:valAx>
        <c:axId val="844538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Windspeed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91376656"/>
        <c:crosses val="autoZero"/>
        <c:crossBetween val="midCat"/>
      </c:valAx>
      <c:valAx>
        <c:axId val="1991376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Total</a:t>
                </a:r>
                <a:r>
                  <a:rPr lang="en-IN" b="1" baseline="0"/>
                  <a:t> rental</a:t>
                </a:r>
                <a:endParaRPr lang="en-IN" b="1"/>
              </a:p>
            </c:rich>
          </c:tx>
          <c:layout>
            <c:manualLayout>
              <c:xMode val="edge"/>
              <c:yMode val="edge"/>
              <c:x val="3.0555555555555555E-2"/>
              <c:y val="0.3555555555555555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453899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000" b="0" i="0" u="none" strike="noStrike" kern="1200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1200" b="1"/>
              <a:t>TEMPERATURE VS NUMBER OF RIDERS</a:t>
            </a:r>
          </a:p>
        </c:rich>
      </c:tx>
      <c:layout>
        <c:manualLayout>
          <c:xMode val="edge"/>
          <c:yMode val="edge"/>
          <c:x val="0.1704724409448819"/>
          <c:y val="2.777777777777777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Sheet13!$B$29</c:f>
              <c:strCache>
                <c:ptCount val="1"/>
                <c:pt idx="0">
                  <c:v>Sum of Count</c:v>
                </c:pt>
              </c:strCache>
            </c:strRef>
          </c:tx>
          <c:spPr>
            <a:ln w="25400" cap="flat" cmpd="dbl" algn="ctr">
              <a:noFill/>
              <a:round/>
            </a:ln>
            <a:effectLst/>
          </c:spPr>
          <c:marker>
            <c:symbol val="circle"/>
            <c:size val="6"/>
            <c:spPr>
              <a:noFill/>
              <a:ln w="34925" cap="flat" cmpd="dbl" algn="ctr">
                <a:solidFill>
                  <a:schemeClr val="accent6">
                    <a:lumMod val="75000"/>
                    <a:alpha val="70000"/>
                  </a:schemeClr>
                </a:solidFill>
                <a:round/>
              </a:ln>
              <a:effectLst/>
            </c:spPr>
          </c:marker>
          <c:xVal>
            <c:numRef>
              <c:f>Sheet13!$A$30:$A$52</c:f>
              <c:numCache>
                <c:formatCode>General</c:formatCode>
                <c:ptCount val="23"/>
                <c:pt idx="0">
                  <c:v>0.02</c:v>
                </c:pt>
                <c:pt idx="1">
                  <c:v>0.04</c:v>
                </c:pt>
                <c:pt idx="2">
                  <c:v>0.06</c:v>
                </c:pt>
                <c:pt idx="3">
                  <c:v>0.08</c:v>
                </c:pt>
                <c:pt idx="4">
                  <c:v>0.1</c:v>
                </c:pt>
                <c:pt idx="5">
                  <c:v>0.12</c:v>
                </c:pt>
                <c:pt idx="6">
                  <c:v>0.14000000000000001</c:v>
                </c:pt>
                <c:pt idx="7">
                  <c:v>0.16</c:v>
                </c:pt>
                <c:pt idx="8">
                  <c:v>0.18</c:v>
                </c:pt>
                <c:pt idx="9">
                  <c:v>0.2</c:v>
                </c:pt>
                <c:pt idx="10">
                  <c:v>0.22</c:v>
                </c:pt>
                <c:pt idx="11">
                  <c:v>0.24</c:v>
                </c:pt>
                <c:pt idx="12">
                  <c:v>0.26</c:v>
                </c:pt>
                <c:pt idx="13">
                  <c:v>0.28000000000000003</c:v>
                </c:pt>
                <c:pt idx="14">
                  <c:v>0.3</c:v>
                </c:pt>
                <c:pt idx="15">
                  <c:v>0.32</c:v>
                </c:pt>
                <c:pt idx="16">
                  <c:v>0.34</c:v>
                </c:pt>
                <c:pt idx="17">
                  <c:v>0.36</c:v>
                </c:pt>
                <c:pt idx="18">
                  <c:v>0.38</c:v>
                </c:pt>
                <c:pt idx="19">
                  <c:v>0.4</c:v>
                </c:pt>
                <c:pt idx="20">
                  <c:v>0.42</c:v>
                </c:pt>
                <c:pt idx="21">
                  <c:v>0.44</c:v>
                </c:pt>
                <c:pt idx="22">
                  <c:v>0.46</c:v>
                </c:pt>
              </c:numCache>
            </c:numRef>
          </c:xVal>
          <c:yVal>
            <c:numRef>
              <c:f>Sheet13!$B$30:$B$52</c:f>
              <c:numCache>
                <c:formatCode>General</c:formatCode>
                <c:ptCount val="23"/>
                <c:pt idx="0">
                  <c:v>168</c:v>
                </c:pt>
                <c:pt idx="1">
                  <c:v>387</c:v>
                </c:pt>
                <c:pt idx="2">
                  <c:v>608</c:v>
                </c:pt>
                <c:pt idx="3">
                  <c:v>357</c:v>
                </c:pt>
                <c:pt idx="4">
                  <c:v>1259</c:v>
                </c:pt>
                <c:pt idx="5">
                  <c:v>2104</c:v>
                </c:pt>
                <c:pt idx="6">
                  <c:v>4335</c:v>
                </c:pt>
                <c:pt idx="7">
                  <c:v>7003</c:v>
                </c:pt>
                <c:pt idx="8">
                  <c:v>4045</c:v>
                </c:pt>
                <c:pt idx="9">
                  <c:v>7926</c:v>
                </c:pt>
                <c:pt idx="10">
                  <c:v>7212</c:v>
                </c:pt>
                <c:pt idx="11">
                  <c:v>5965</c:v>
                </c:pt>
                <c:pt idx="12">
                  <c:v>3157</c:v>
                </c:pt>
                <c:pt idx="13">
                  <c:v>1958</c:v>
                </c:pt>
                <c:pt idx="14">
                  <c:v>3551</c:v>
                </c:pt>
                <c:pt idx="15">
                  <c:v>1966</c:v>
                </c:pt>
                <c:pt idx="16">
                  <c:v>2478</c:v>
                </c:pt>
                <c:pt idx="17">
                  <c:v>1341</c:v>
                </c:pt>
                <c:pt idx="18">
                  <c:v>521</c:v>
                </c:pt>
                <c:pt idx="19">
                  <c:v>985</c:v>
                </c:pt>
                <c:pt idx="20">
                  <c:v>519</c:v>
                </c:pt>
                <c:pt idx="21">
                  <c:v>194</c:v>
                </c:pt>
                <c:pt idx="22">
                  <c:v>265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DC6-4827-A8C7-BF90A88AF8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44419744"/>
        <c:axId val="821464816"/>
      </c:scatterChart>
      <c:valAx>
        <c:axId val="844419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Temperature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1464816"/>
        <c:crosses val="autoZero"/>
        <c:crossBetween val="midCat"/>
      </c:valAx>
      <c:valAx>
        <c:axId val="821464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in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b="1"/>
                  <a:t>Number Of Riders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4441974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b="1"/>
              <a:t>Forcasting</a:t>
            </a:r>
          </a:p>
        </c:rich>
      </c:tx>
      <c:layout>
        <c:manualLayout>
          <c:xMode val="edge"/>
          <c:yMode val="edge"/>
          <c:x val="0.42269151138716354"/>
          <c:y val="3.605770368264930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952935230922222E-2"/>
          <c:y val="6.1337844910232732E-2"/>
          <c:w val="0.91513330398917525"/>
          <c:h val="0.65719875924600335"/>
        </c:manualLayout>
      </c:layout>
      <c:lineChart>
        <c:grouping val="standard"/>
        <c:varyColors val="0"/>
        <c:ser>
          <c:idx val="0"/>
          <c:order val="0"/>
          <c:tx>
            <c:strRef>
              <c:f>'Forcasting Pivot'!$B$1</c:f>
              <c:strCache>
                <c:ptCount val="1"/>
                <c:pt idx="0">
                  <c:v>Sum of Count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'Forcasting Pivot'!$B$2:$B$58</c:f>
              <c:numCache>
                <c:formatCode>General</c:formatCode>
                <c:ptCount val="57"/>
                <c:pt idx="0">
                  <c:v>985</c:v>
                </c:pt>
                <c:pt idx="1">
                  <c:v>801</c:v>
                </c:pt>
                <c:pt idx="2">
                  <c:v>1349</c:v>
                </c:pt>
                <c:pt idx="3">
                  <c:v>1562</c:v>
                </c:pt>
                <c:pt idx="4">
                  <c:v>1600</c:v>
                </c:pt>
                <c:pt idx="5">
                  <c:v>1606</c:v>
                </c:pt>
                <c:pt idx="6">
                  <c:v>1510</c:v>
                </c:pt>
                <c:pt idx="7">
                  <c:v>959</c:v>
                </c:pt>
                <c:pt idx="8">
                  <c:v>822</c:v>
                </c:pt>
                <c:pt idx="9">
                  <c:v>1321</c:v>
                </c:pt>
                <c:pt idx="10">
                  <c:v>1263</c:v>
                </c:pt>
                <c:pt idx="11">
                  <c:v>1162</c:v>
                </c:pt>
                <c:pt idx="12">
                  <c:v>1406</c:v>
                </c:pt>
                <c:pt idx="13">
                  <c:v>1421</c:v>
                </c:pt>
                <c:pt idx="14">
                  <c:v>1248</c:v>
                </c:pt>
                <c:pt idx="15">
                  <c:v>1204</c:v>
                </c:pt>
                <c:pt idx="16">
                  <c:v>1000</c:v>
                </c:pt>
                <c:pt idx="17">
                  <c:v>683</c:v>
                </c:pt>
                <c:pt idx="18">
                  <c:v>1650</c:v>
                </c:pt>
                <c:pt idx="19">
                  <c:v>1927</c:v>
                </c:pt>
                <c:pt idx="20">
                  <c:v>1543</c:v>
                </c:pt>
                <c:pt idx="21">
                  <c:v>981</c:v>
                </c:pt>
                <c:pt idx="22">
                  <c:v>986</c:v>
                </c:pt>
                <c:pt idx="23">
                  <c:v>1416</c:v>
                </c:pt>
                <c:pt idx="24">
                  <c:v>1985</c:v>
                </c:pt>
                <c:pt idx="25">
                  <c:v>506</c:v>
                </c:pt>
                <c:pt idx="26">
                  <c:v>431</c:v>
                </c:pt>
                <c:pt idx="27">
                  <c:v>1167</c:v>
                </c:pt>
                <c:pt idx="28">
                  <c:v>1098</c:v>
                </c:pt>
                <c:pt idx="29">
                  <c:v>1096</c:v>
                </c:pt>
                <c:pt idx="30">
                  <c:v>1501</c:v>
                </c:pt>
                <c:pt idx="31">
                  <c:v>1360</c:v>
                </c:pt>
                <c:pt idx="32">
                  <c:v>1526</c:v>
                </c:pt>
                <c:pt idx="33">
                  <c:v>1550</c:v>
                </c:pt>
                <c:pt idx="34">
                  <c:v>1708</c:v>
                </c:pt>
                <c:pt idx="35">
                  <c:v>1005</c:v>
                </c:pt>
                <c:pt idx="36">
                  <c:v>1623</c:v>
                </c:pt>
                <c:pt idx="37">
                  <c:v>1712</c:v>
                </c:pt>
                <c:pt idx="38">
                  <c:v>1530</c:v>
                </c:pt>
                <c:pt idx="39">
                  <c:v>1605</c:v>
                </c:pt>
                <c:pt idx="40">
                  <c:v>1538</c:v>
                </c:pt>
                <c:pt idx="41">
                  <c:v>1746</c:v>
                </c:pt>
                <c:pt idx="42">
                  <c:v>1472</c:v>
                </c:pt>
                <c:pt idx="43">
                  <c:v>1589</c:v>
                </c:pt>
                <c:pt idx="4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78E-4FA8-9031-D98CFD0864C1}"/>
            </c:ext>
          </c:extLst>
        </c:ser>
        <c:ser>
          <c:idx val="1"/>
          <c:order val="1"/>
          <c:tx>
            <c:strRef>
              <c:f>'Forcasting Pivot'!$C$1</c:f>
              <c:strCache>
                <c:ptCount val="1"/>
                <c:pt idx="0">
                  <c:v>Forecast(Sum of Count)</c:v>
                </c:pt>
              </c:strCache>
            </c:strRef>
          </c:tx>
          <c:spPr>
            <a:ln w="254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'Forcasting Pivot'!$A$2:$A$58</c:f>
              <c:numCache>
                <c:formatCode>m/d/yyyy</c:formatCode>
                <c:ptCount val="57"/>
                <c:pt idx="0">
                  <c:v>46023</c:v>
                </c:pt>
                <c:pt idx="1">
                  <c:v>46024</c:v>
                </c:pt>
                <c:pt idx="2">
                  <c:v>46025</c:v>
                </c:pt>
                <c:pt idx="3">
                  <c:v>46026</c:v>
                </c:pt>
                <c:pt idx="4">
                  <c:v>46027</c:v>
                </c:pt>
                <c:pt idx="5">
                  <c:v>46028</c:v>
                </c:pt>
                <c:pt idx="6">
                  <c:v>46029</c:v>
                </c:pt>
                <c:pt idx="7">
                  <c:v>46030</c:v>
                </c:pt>
                <c:pt idx="8">
                  <c:v>46031</c:v>
                </c:pt>
                <c:pt idx="9">
                  <c:v>46032</c:v>
                </c:pt>
                <c:pt idx="10">
                  <c:v>46033</c:v>
                </c:pt>
                <c:pt idx="11">
                  <c:v>46034</c:v>
                </c:pt>
                <c:pt idx="12">
                  <c:v>46035</c:v>
                </c:pt>
                <c:pt idx="13">
                  <c:v>46036</c:v>
                </c:pt>
                <c:pt idx="14">
                  <c:v>46037</c:v>
                </c:pt>
                <c:pt idx="15">
                  <c:v>46038</c:v>
                </c:pt>
                <c:pt idx="16">
                  <c:v>46039</c:v>
                </c:pt>
                <c:pt idx="17">
                  <c:v>46040</c:v>
                </c:pt>
                <c:pt idx="18">
                  <c:v>46041</c:v>
                </c:pt>
                <c:pt idx="19">
                  <c:v>46042</c:v>
                </c:pt>
                <c:pt idx="20">
                  <c:v>46043</c:v>
                </c:pt>
                <c:pt idx="21">
                  <c:v>46044</c:v>
                </c:pt>
                <c:pt idx="22">
                  <c:v>46045</c:v>
                </c:pt>
                <c:pt idx="23">
                  <c:v>46046</c:v>
                </c:pt>
                <c:pt idx="24">
                  <c:v>46047</c:v>
                </c:pt>
                <c:pt idx="25">
                  <c:v>46048</c:v>
                </c:pt>
                <c:pt idx="26">
                  <c:v>46049</c:v>
                </c:pt>
                <c:pt idx="27">
                  <c:v>46050</c:v>
                </c:pt>
                <c:pt idx="28">
                  <c:v>46051</c:v>
                </c:pt>
                <c:pt idx="29">
                  <c:v>46052</c:v>
                </c:pt>
                <c:pt idx="30">
                  <c:v>46053</c:v>
                </c:pt>
                <c:pt idx="31">
                  <c:v>46054</c:v>
                </c:pt>
                <c:pt idx="32">
                  <c:v>46055</c:v>
                </c:pt>
                <c:pt idx="33">
                  <c:v>46056</c:v>
                </c:pt>
                <c:pt idx="34">
                  <c:v>46057</c:v>
                </c:pt>
                <c:pt idx="35">
                  <c:v>46058</c:v>
                </c:pt>
                <c:pt idx="36">
                  <c:v>46059</c:v>
                </c:pt>
                <c:pt idx="37">
                  <c:v>46060</c:v>
                </c:pt>
                <c:pt idx="38">
                  <c:v>46061</c:v>
                </c:pt>
                <c:pt idx="39">
                  <c:v>46062</c:v>
                </c:pt>
                <c:pt idx="40">
                  <c:v>46063</c:v>
                </c:pt>
                <c:pt idx="41">
                  <c:v>46064</c:v>
                </c:pt>
                <c:pt idx="42">
                  <c:v>46065</c:v>
                </c:pt>
                <c:pt idx="43">
                  <c:v>46066</c:v>
                </c:pt>
                <c:pt idx="44">
                  <c:v>46067</c:v>
                </c:pt>
                <c:pt idx="45">
                  <c:v>46068</c:v>
                </c:pt>
                <c:pt idx="46">
                  <c:v>46069</c:v>
                </c:pt>
                <c:pt idx="47">
                  <c:v>46070</c:v>
                </c:pt>
                <c:pt idx="48">
                  <c:v>46071</c:v>
                </c:pt>
                <c:pt idx="49">
                  <c:v>46072</c:v>
                </c:pt>
                <c:pt idx="50">
                  <c:v>46073</c:v>
                </c:pt>
                <c:pt idx="51">
                  <c:v>46074</c:v>
                </c:pt>
                <c:pt idx="52">
                  <c:v>46075</c:v>
                </c:pt>
                <c:pt idx="53">
                  <c:v>46076</c:v>
                </c:pt>
                <c:pt idx="54">
                  <c:v>46077</c:v>
                </c:pt>
                <c:pt idx="55">
                  <c:v>46078</c:v>
                </c:pt>
                <c:pt idx="56">
                  <c:v>46079</c:v>
                </c:pt>
              </c:numCache>
            </c:numRef>
          </c:cat>
          <c:val>
            <c:numRef>
              <c:f>'Forcasting Pivot'!$C$2:$C$58</c:f>
              <c:numCache>
                <c:formatCode>General</c:formatCode>
                <c:ptCount val="57"/>
                <c:pt idx="44">
                  <c:v>151</c:v>
                </c:pt>
                <c:pt idx="45">
                  <c:v>1387.2167441635288</c:v>
                </c:pt>
                <c:pt idx="46">
                  <c:v>1392.5597746183603</c:v>
                </c:pt>
                <c:pt idx="47">
                  <c:v>1397.902805073192</c:v>
                </c:pt>
                <c:pt idx="48">
                  <c:v>1403.2458355280237</c:v>
                </c:pt>
                <c:pt idx="49">
                  <c:v>1408.5888659828554</c:v>
                </c:pt>
                <c:pt idx="50">
                  <c:v>1413.9318964376871</c:v>
                </c:pt>
                <c:pt idx="51">
                  <c:v>1419.2749268925186</c:v>
                </c:pt>
                <c:pt idx="52">
                  <c:v>1424.6179573473503</c:v>
                </c:pt>
                <c:pt idx="53">
                  <c:v>1429.960987802182</c:v>
                </c:pt>
                <c:pt idx="54">
                  <c:v>1435.3040182570135</c:v>
                </c:pt>
                <c:pt idx="55">
                  <c:v>1440.6470487118452</c:v>
                </c:pt>
                <c:pt idx="56">
                  <c:v>1445.9900791666769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78E-4FA8-9031-D98CFD0864C1}"/>
            </c:ext>
          </c:extLst>
        </c:ser>
        <c:ser>
          <c:idx val="2"/>
          <c:order val="2"/>
          <c:tx>
            <c:strRef>
              <c:f>'Forcasting Pivot'!$D$1</c:f>
              <c:strCache>
                <c:ptCount val="1"/>
                <c:pt idx="0">
                  <c:v>Lower Confidence Bound(Sum of Count)</c:v>
                </c:pt>
              </c:strCache>
            </c:strRef>
          </c:tx>
          <c:spPr>
            <a:ln w="12700" cap="rnd">
              <a:solidFill>
                <a:srgbClr val="EA4335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'Forcasting Pivot'!$A$2:$A$58</c:f>
              <c:numCache>
                <c:formatCode>m/d/yyyy</c:formatCode>
                <c:ptCount val="57"/>
                <c:pt idx="0">
                  <c:v>46023</c:v>
                </c:pt>
                <c:pt idx="1">
                  <c:v>46024</c:v>
                </c:pt>
                <c:pt idx="2">
                  <c:v>46025</c:v>
                </c:pt>
                <c:pt idx="3">
                  <c:v>46026</c:v>
                </c:pt>
                <c:pt idx="4">
                  <c:v>46027</c:v>
                </c:pt>
                <c:pt idx="5">
                  <c:v>46028</c:v>
                </c:pt>
                <c:pt idx="6">
                  <c:v>46029</c:v>
                </c:pt>
                <c:pt idx="7">
                  <c:v>46030</c:v>
                </c:pt>
                <c:pt idx="8">
                  <c:v>46031</c:v>
                </c:pt>
                <c:pt idx="9">
                  <c:v>46032</c:v>
                </c:pt>
                <c:pt idx="10">
                  <c:v>46033</c:v>
                </c:pt>
                <c:pt idx="11">
                  <c:v>46034</c:v>
                </c:pt>
                <c:pt idx="12">
                  <c:v>46035</c:v>
                </c:pt>
                <c:pt idx="13">
                  <c:v>46036</c:v>
                </c:pt>
                <c:pt idx="14">
                  <c:v>46037</c:v>
                </c:pt>
                <c:pt idx="15">
                  <c:v>46038</c:v>
                </c:pt>
                <c:pt idx="16">
                  <c:v>46039</c:v>
                </c:pt>
                <c:pt idx="17">
                  <c:v>46040</c:v>
                </c:pt>
                <c:pt idx="18">
                  <c:v>46041</c:v>
                </c:pt>
                <c:pt idx="19">
                  <c:v>46042</c:v>
                </c:pt>
                <c:pt idx="20">
                  <c:v>46043</c:v>
                </c:pt>
                <c:pt idx="21">
                  <c:v>46044</c:v>
                </c:pt>
                <c:pt idx="22">
                  <c:v>46045</c:v>
                </c:pt>
                <c:pt idx="23">
                  <c:v>46046</c:v>
                </c:pt>
                <c:pt idx="24">
                  <c:v>46047</c:v>
                </c:pt>
                <c:pt idx="25">
                  <c:v>46048</c:v>
                </c:pt>
                <c:pt idx="26">
                  <c:v>46049</c:v>
                </c:pt>
                <c:pt idx="27">
                  <c:v>46050</c:v>
                </c:pt>
                <c:pt idx="28">
                  <c:v>46051</c:v>
                </c:pt>
                <c:pt idx="29">
                  <c:v>46052</c:v>
                </c:pt>
                <c:pt idx="30">
                  <c:v>46053</c:v>
                </c:pt>
                <c:pt idx="31">
                  <c:v>46054</c:v>
                </c:pt>
                <c:pt idx="32">
                  <c:v>46055</c:v>
                </c:pt>
                <c:pt idx="33">
                  <c:v>46056</c:v>
                </c:pt>
                <c:pt idx="34">
                  <c:v>46057</c:v>
                </c:pt>
                <c:pt idx="35">
                  <c:v>46058</c:v>
                </c:pt>
                <c:pt idx="36">
                  <c:v>46059</c:v>
                </c:pt>
                <c:pt idx="37">
                  <c:v>46060</c:v>
                </c:pt>
                <c:pt idx="38">
                  <c:v>46061</c:v>
                </c:pt>
                <c:pt idx="39">
                  <c:v>46062</c:v>
                </c:pt>
                <c:pt idx="40">
                  <c:v>46063</c:v>
                </c:pt>
                <c:pt idx="41">
                  <c:v>46064</c:v>
                </c:pt>
                <c:pt idx="42">
                  <c:v>46065</c:v>
                </c:pt>
                <c:pt idx="43">
                  <c:v>46066</c:v>
                </c:pt>
                <c:pt idx="44">
                  <c:v>46067</c:v>
                </c:pt>
                <c:pt idx="45">
                  <c:v>46068</c:v>
                </c:pt>
                <c:pt idx="46">
                  <c:v>46069</c:v>
                </c:pt>
                <c:pt idx="47">
                  <c:v>46070</c:v>
                </c:pt>
                <c:pt idx="48">
                  <c:v>46071</c:v>
                </c:pt>
                <c:pt idx="49">
                  <c:v>46072</c:v>
                </c:pt>
                <c:pt idx="50">
                  <c:v>46073</c:v>
                </c:pt>
                <c:pt idx="51">
                  <c:v>46074</c:v>
                </c:pt>
                <c:pt idx="52">
                  <c:v>46075</c:v>
                </c:pt>
                <c:pt idx="53">
                  <c:v>46076</c:v>
                </c:pt>
                <c:pt idx="54">
                  <c:v>46077</c:v>
                </c:pt>
                <c:pt idx="55">
                  <c:v>46078</c:v>
                </c:pt>
                <c:pt idx="56">
                  <c:v>46079</c:v>
                </c:pt>
              </c:numCache>
            </c:numRef>
          </c:cat>
          <c:val>
            <c:numRef>
              <c:f>'Forcasting Pivot'!$D$2:$D$58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585.50542669163815</c:v>
                </c:pt>
                <c:pt idx="46" formatCode="0.00">
                  <c:v>586.76970401902065</c:v>
                </c:pt>
                <c:pt idx="47" formatCode="0.00">
                  <c:v>587.97397139650093</c:v>
                </c:pt>
                <c:pt idx="48" formatCode="0.00">
                  <c:v>589.11835455358994</c:v>
                </c:pt>
                <c:pt idx="49" formatCode="0.00">
                  <c:v>590.2029898038752</c:v>
                </c:pt>
                <c:pt idx="50" formatCode="0.00">
                  <c:v>591.22802367584165</c:v>
                </c:pt>
                <c:pt idx="51" formatCode="0.00">
                  <c:v>592.19361254419198</c:v>
                </c:pt>
                <c:pt idx="52" formatCode="0.00">
                  <c:v>593.09992226226586</c:v>
                </c:pt>
                <c:pt idx="53" formatCode="0.00">
                  <c:v>593.94712779612632</c:v>
                </c:pt>
                <c:pt idx="54" formatCode="0.00">
                  <c:v>594.73541286086618</c:v>
                </c:pt>
                <c:pt idx="55" formatCode="0.00">
                  <c:v>595.46496955964824</c:v>
                </c:pt>
                <c:pt idx="56" formatCode="0.00">
                  <c:v>596.13599802596889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78E-4FA8-9031-D98CFD0864C1}"/>
            </c:ext>
          </c:extLst>
        </c:ser>
        <c:ser>
          <c:idx val="3"/>
          <c:order val="3"/>
          <c:tx>
            <c:strRef>
              <c:f>'Forcasting Pivot'!$E$1</c:f>
              <c:strCache>
                <c:ptCount val="1"/>
                <c:pt idx="0">
                  <c:v>Upper Confidence Bound(Sum of Count)</c:v>
                </c:pt>
              </c:strCache>
            </c:strRef>
          </c:tx>
          <c:spPr>
            <a:ln w="12700" cap="rnd">
              <a:solidFill>
                <a:srgbClr val="EA4335"/>
              </a:solidFill>
              <a:prstDash val="solid"/>
              <a:round/>
            </a:ln>
            <a:effectLst/>
          </c:spPr>
          <c:marker>
            <c:symbol val="none"/>
          </c:marker>
          <c:cat>
            <c:numRef>
              <c:f>'Forcasting Pivot'!$A$2:$A$58</c:f>
              <c:numCache>
                <c:formatCode>m/d/yyyy</c:formatCode>
                <c:ptCount val="57"/>
                <c:pt idx="0">
                  <c:v>46023</c:v>
                </c:pt>
                <c:pt idx="1">
                  <c:v>46024</c:v>
                </c:pt>
                <c:pt idx="2">
                  <c:v>46025</c:v>
                </c:pt>
                <c:pt idx="3">
                  <c:v>46026</c:v>
                </c:pt>
                <c:pt idx="4">
                  <c:v>46027</c:v>
                </c:pt>
                <c:pt idx="5">
                  <c:v>46028</c:v>
                </c:pt>
                <c:pt idx="6">
                  <c:v>46029</c:v>
                </c:pt>
                <c:pt idx="7">
                  <c:v>46030</c:v>
                </c:pt>
                <c:pt idx="8">
                  <c:v>46031</c:v>
                </c:pt>
                <c:pt idx="9">
                  <c:v>46032</c:v>
                </c:pt>
                <c:pt idx="10">
                  <c:v>46033</c:v>
                </c:pt>
                <c:pt idx="11">
                  <c:v>46034</c:v>
                </c:pt>
                <c:pt idx="12">
                  <c:v>46035</c:v>
                </c:pt>
                <c:pt idx="13">
                  <c:v>46036</c:v>
                </c:pt>
                <c:pt idx="14">
                  <c:v>46037</c:v>
                </c:pt>
                <c:pt idx="15">
                  <c:v>46038</c:v>
                </c:pt>
                <c:pt idx="16">
                  <c:v>46039</c:v>
                </c:pt>
                <c:pt idx="17">
                  <c:v>46040</c:v>
                </c:pt>
                <c:pt idx="18">
                  <c:v>46041</c:v>
                </c:pt>
                <c:pt idx="19">
                  <c:v>46042</c:v>
                </c:pt>
                <c:pt idx="20">
                  <c:v>46043</c:v>
                </c:pt>
                <c:pt idx="21">
                  <c:v>46044</c:v>
                </c:pt>
                <c:pt idx="22">
                  <c:v>46045</c:v>
                </c:pt>
                <c:pt idx="23">
                  <c:v>46046</c:v>
                </c:pt>
                <c:pt idx="24">
                  <c:v>46047</c:v>
                </c:pt>
                <c:pt idx="25">
                  <c:v>46048</c:v>
                </c:pt>
                <c:pt idx="26">
                  <c:v>46049</c:v>
                </c:pt>
                <c:pt idx="27">
                  <c:v>46050</c:v>
                </c:pt>
                <c:pt idx="28">
                  <c:v>46051</c:v>
                </c:pt>
                <c:pt idx="29">
                  <c:v>46052</c:v>
                </c:pt>
                <c:pt idx="30">
                  <c:v>46053</c:v>
                </c:pt>
                <c:pt idx="31">
                  <c:v>46054</c:v>
                </c:pt>
                <c:pt idx="32">
                  <c:v>46055</c:v>
                </c:pt>
                <c:pt idx="33">
                  <c:v>46056</c:v>
                </c:pt>
                <c:pt idx="34">
                  <c:v>46057</c:v>
                </c:pt>
                <c:pt idx="35">
                  <c:v>46058</c:v>
                </c:pt>
                <c:pt idx="36">
                  <c:v>46059</c:v>
                </c:pt>
                <c:pt idx="37">
                  <c:v>46060</c:v>
                </c:pt>
                <c:pt idx="38">
                  <c:v>46061</c:v>
                </c:pt>
                <c:pt idx="39">
                  <c:v>46062</c:v>
                </c:pt>
                <c:pt idx="40">
                  <c:v>46063</c:v>
                </c:pt>
                <c:pt idx="41">
                  <c:v>46064</c:v>
                </c:pt>
                <c:pt idx="42">
                  <c:v>46065</c:v>
                </c:pt>
                <c:pt idx="43">
                  <c:v>46066</c:v>
                </c:pt>
                <c:pt idx="44">
                  <c:v>46067</c:v>
                </c:pt>
                <c:pt idx="45">
                  <c:v>46068</c:v>
                </c:pt>
                <c:pt idx="46">
                  <c:v>46069</c:v>
                </c:pt>
                <c:pt idx="47">
                  <c:v>46070</c:v>
                </c:pt>
                <c:pt idx="48">
                  <c:v>46071</c:v>
                </c:pt>
                <c:pt idx="49">
                  <c:v>46072</c:v>
                </c:pt>
                <c:pt idx="50">
                  <c:v>46073</c:v>
                </c:pt>
                <c:pt idx="51">
                  <c:v>46074</c:v>
                </c:pt>
                <c:pt idx="52">
                  <c:v>46075</c:v>
                </c:pt>
                <c:pt idx="53">
                  <c:v>46076</c:v>
                </c:pt>
                <c:pt idx="54">
                  <c:v>46077</c:v>
                </c:pt>
                <c:pt idx="55">
                  <c:v>46078</c:v>
                </c:pt>
                <c:pt idx="56">
                  <c:v>46079</c:v>
                </c:pt>
              </c:numCache>
            </c:numRef>
          </c:cat>
          <c:val>
            <c:numRef>
              <c:f>'Forcasting Pivot'!$E$2:$E$58</c:f>
              <c:numCache>
                <c:formatCode>General</c:formatCode>
                <c:ptCount val="57"/>
                <c:pt idx="44" formatCode="0.00">
                  <c:v>151</c:v>
                </c:pt>
                <c:pt idx="45" formatCode="0.00">
                  <c:v>2188.9280616354195</c:v>
                </c:pt>
                <c:pt idx="46" formatCode="0.00">
                  <c:v>2198.3498452177</c:v>
                </c:pt>
                <c:pt idx="47" formatCode="0.00">
                  <c:v>2207.831638749883</c:v>
                </c:pt>
                <c:pt idx="48" formatCode="0.00">
                  <c:v>2217.3733165024573</c:v>
                </c:pt>
                <c:pt idx="49" formatCode="0.00">
                  <c:v>2226.9747421618358</c:v>
                </c:pt>
                <c:pt idx="50" formatCode="0.00">
                  <c:v>2236.6357691995327</c:v>
                </c:pt>
                <c:pt idx="51" formatCode="0.00">
                  <c:v>2246.3562412408451</c:v>
                </c:pt>
                <c:pt idx="52" formatCode="0.00">
                  <c:v>2256.1359924324347</c:v>
                </c:pt>
                <c:pt idx="53" formatCode="0.00">
                  <c:v>2265.9748478082374</c:v>
                </c:pt>
                <c:pt idx="54" formatCode="0.00">
                  <c:v>2275.8726236531606</c:v>
                </c:pt>
                <c:pt idx="55" formatCode="0.00">
                  <c:v>2285.8291278640422</c:v>
                </c:pt>
                <c:pt idx="56" formatCode="0.00">
                  <c:v>2295.8441603073848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78E-4FA8-9031-D98CFD0864C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30209535"/>
        <c:axId val="1194416751"/>
      </c:lineChart>
      <c:catAx>
        <c:axId val="2130209535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4416751"/>
        <c:crosses val="autoZero"/>
        <c:auto val="1"/>
        <c:lblAlgn val="ctr"/>
        <c:lblOffset val="100"/>
        <c:noMultiLvlLbl val="0"/>
      </c:catAx>
      <c:valAx>
        <c:axId val="119441675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02095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3.1128804551604959E-2"/>
          <c:y val="0.9222794020919779"/>
          <c:w val="0.93939857517810277"/>
          <c:h val="6.570136334713914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>
        <a:lumMod val="20000"/>
        <a:lumOff val="80000"/>
      </a:schemeClr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'[Copy of dataset_1.xlsx]Waterfall Chart'!$A$11:$A$14</cx:f>
        <cx:lvl ptCount="4">
          <cx:pt idx="0">Clear</cx:pt>
          <cx:pt idx="1">Cloudy </cx:pt>
          <cx:pt idx="2">Heavy Rain </cx:pt>
          <cx:pt idx="3">Light Rain </cx:pt>
        </cx:lvl>
      </cx:strDim>
      <cx:numDim type="val">
        <cx:f>'[Copy of dataset_1.xlsx]Waterfall Chart'!$B$11:$B$14</cx:f>
        <cx:lvl ptCount="4" formatCode="0.00">
          <cx:pt idx="0">61.671617161716171</cx:pt>
          <cx:pt idx="1">58.595469255663431</cx:pt>
          <cx:pt idx="2">36</cx:pt>
          <cx:pt idx="3">33.202380952380949</cx:pt>
        </cx:lvl>
      </cx:numDim>
    </cx:data>
  </cx:chartData>
  <cx:chart>
    <cx:title pos="t" align="ctr" overlay="0">
      <cx:tx>
        <cx:txData>
          <cx:v>Weather Description vs Total Rental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1" i="0" u="none" strike="noStrike" baseline="0">
              <a:solidFill>
                <a:srgbClr val="000000">
                  <a:lumMod val="65000"/>
                  <a:lumOff val="35000"/>
                </a:srgbClr>
              </a:solidFill>
              <a:latin typeface="Arial"/>
              <a:cs typeface="Arial"/>
            </a:rPr>
            <a:t>Weather Description vs Total Rental</a:t>
          </a:r>
        </a:p>
      </cx:txPr>
      <cx:extLst>
        <cx:ext uri="ext:featex">
          <cx:featureExtension feature="mp" drop="onModelChange">
            <cx:offset top="0.01666666753590107" left="-0.01666666753590107"/>
          </cx:featureExtension>
        </cx:ext>
      </cx:extLst>
    </cx:title>
    <cx:plotArea>
      <cx:plotAreaRegion>
        <cx:series layoutId="waterfall" uniqueId="{00000000-7652-4AB7-A2F8-B9343A8B2C2A}">
          <cx:tx>
            <cx:txData>
              <cx:f>'[Copy of dataset_1.xlsx]Waterfall Chart'!$B$10</cx:f>
              <cx:v>Average of Count</cx:v>
            </cx:txData>
          </cx:tx>
          <cx:dataLabels pos="outEnd">
            <cx:visibility seriesName="0" categoryName="0" value="1"/>
          </cx:dataLabels>
          <cx:dataId val="0"/>
          <cx:layoutPr>
            <cx:subtotals/>
          </cx:layoutPr>
        </cx:series>
      </cx:plotAreaRegion>
      <cx:axis id="0">
        <cx:catScaling gapWidth="0.5"/>
        <cx:tickLabels/>
      </cx:axis>
      <cx:axis id="1">
        <cx:valScaling/>
        <cx:majorGridlines/>
        <cx:tickLabels/>
      </cx:axis>
    </cx:plotArea>
    <cx:legend pos="t" align="ctr" overlay="0"/>
  </cx:chart>
  <cx:spPr>
    <a:solidFill>
      <a:schemeClr val="accent2">
        <a:lumMod val="20000"/>
        <a:lumOff val="80000"/>
      </a:schemeClr>
    </a:solidFill>
  </cx:spPr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39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4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b="0" kern="1200" cap="none" spc="0" normalizeH="0" baseline="0"/>
  </cs:categoryAxis>
  <cs:chartArea mods="allowNoFillOverride allowNoLineOverride"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dk1">
          <a:lumMod val="15000"/>
          <a:lumOff val="85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5400" cap="flat" cmpd="dbl" algn="ctr">
        <a:solidFill>
          <a:schemeClr val="phClr">
            <a:alpha val="50000"/>
          </a:schemeClr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34925" cap="flat" cmpd="dbl" algn="ctr">
        <a:solidFill>
          <a:schemeClr val="phClr">
            <a:lumMod val="75000"/>
            <a:alpha val="70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000" kern="1200" spc="0" normalizeH="0" baseline="0"/>
  </cs:title>
  <cs:trendline>
    <cs:lnRef idx="0">
      <cs:styleClr val="0"/>
    </cs:lnRef>
    <cs:fillRef idx="0"/>
    <cs:effectRef idx="0"/>
    <cs:fontRef idx="minor">
      <a:schemeClr val="tx1"/>
    </cs:fontRef>
    <cs:spPr>
      <a:ln w="38100" cap="rnd" cmpd="sng" algn="ctr">
        <a:solidFill>
          <a:schemeClr val="phClr">
            <a:lumMod val="75000"/>
            <a:alpha val="25000"/>
          </a:schemeClr>
        </a:solidFill>
        <a:round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b="0" kern="1200"/>
  </cs:valueAxis>
  <cs:wall>
    <cs:lnRef idx="0"/>
    <cs:fillRef idx="0"/>
    <cs:effectRef idx="0"/>
    <cs:fontRef idx="minor">
      <a:schemeClr val="dk1"/>
    </cs:fontRef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3.emf"/><Relationship Id="rId5" Type="http://schemas.openxmlformats.org/officeDocument/2006/relationships/image" Target="../media/image9.svg"/><Relationship Id="rId10" Type="http://schemas.openxmlformats.org/officeDocument/2006/relationships/package" Target="../embeddings/Microsoft_Excel_Worksheet1.xlsx"/><Relationship Id="rId4" Type="http://schemas.openxmlformats.org/officeDocument/2006/relationships/image" Target="../media/image8.svg"/><Relationship Id="rId9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7" Type="http://schemas.openxmlformats.org/officeDocument/2006/relationships/chart" Target="../charts/chart7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6" Type="http://schemas.openxmlformats.org/officeDocument/2006/relationships/chart" Target="../charts/char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5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108156"/>
            <a:ext cx="6392421" cy="619431"/>
          </a:xfrm>
        </p:spPr>
        <p:txBody>
          <a:bodyPr anchor="ctr"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BIKE RENTAL DATA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5F5A0-3BA4-B8C0-F654-0764B13D9FCE}"/>
              </a:ext>
            </a:extLst>
          </p:cNvPr>
          <p:cNvSpPr txBox="1"/>
          <p:nvPr/>
        </p:nvSpPr>
        <p:spPr>
          <a:xfrm>
            <a:off x="3608439" y="955876"/>
            <a:ext cx="5427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Automated Dashboard, Forecasting &amp; Data Insights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2067A4-3A69-38E1-042A-1DB60D0859B8}"/>
              </a:ext>
            </a:extLst>
          </p:cNvPr>
          <p:cNvSpPr txBox="1"/>
          <p:nvPr/>
        </p:nvSpPr>
        <p:spPr>
          <a:xfrm>
            <a:off x="5073446" y="1675778"/>
            <a:ext cx="2964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Project Presentation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023805-8DFF-5D6C-6919-B65CE3FFF15A}"/>
              </a:ext>
            </a:extLst>
          </p:cNvPr>
          <p:cNvSpPr txBox="1"/>
          <p:nvPr/>
        </p:nvSpPr>
        <p:spPr>
          <a:xfrm>
            <a:off x="4360606" y="2592738"/>
            <a:ext cx="33233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Submitted by:- Shubham Tiwari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32969A-D579-97ED-28D2-1611353120C5}"/>
              </a:ext>
            </a:extLst>
          </p:cNvPr>
          <p:cNvSpPr txBox="1"/>
          <p:nvPr/>
        </p:nvSpPr>
        <p:spPr>
          <a:xfrm>
            <a:off x="4119716" y="2145579"/>
            <a:ext cx="41983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Project given by:- </a:t>
            </a:r>
            <a:r>
              <a:rPr lang="en-IN" sz="1600" dirty="0" err="1"/>
              <a:t>Nexthikes</a:t>
            </a:r>
            <a:r>
              <a:rPr lang="en-IN" sz="1600" dirty="0"/>
              <a:t> IT Solutions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FB85D4-3ABB-26F6-A5F9-0C706BD6D2BA}"/>
              </a:ext>
            </a:extLst>
          </p:cNvPr>
          <p:cNvSpPr txBox="1"/>
          <p:nvPr/>
        </p:nvSpPr>
        <p:spPr>
          <a:xfrm>
            <a:off x="93142" y="257144"/>
            <a:ext cx="61009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Introduction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925B0D-DC66-252E-0AF3-8339C4FE54B9}"/>
              </a:ext>
            </a:extLst>
          </p:cNvPr>
          <p:cNvSpPr txBox="1"/>
          <p:nvPr/>
        </p:nvSpPr>
        <p:spPr>
          <a:xfrm>
            <a:off x="540774" y="894734"/>
            <a:ext cx="71087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In this rental bike sharing data project we analyse the bike rental data to understand rental patterns, customer behaviour and the impact of weather condition like temperature, windspeed &amp; humidity.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8E71D2-08BA-A1E8-23D8-D4722800A2BE}"/>
              </a:ext>
            </a:extLst>
          </p:cNvPr>
          <p:cNvSpPr txBox="1"/>
          <p:nvPr/>
        </p:nvSpPr>
        <p:spPr>
          <a:xfrm>
            <a:off x="589935" y="2094271"/>
            <a:ext cx="682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This project have hourly bike rental data from 1 January to 14 February, covering rental demand.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2FCA10-0046-E634-32B6-A0700CB2661E}"/>
              </a:ext>
            </a:extLst>
          </p:cNvPr>
          <p:cNvSpPr txBox="1"/>
          <p:nvPr/>
        </p:nvSpPr>
        <p:spPr>
          <a:xfrm>
            <a:off x="589935" y="3146323"/>
            <a:ext cx="6823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In this data we understand pattern of rental bike through every condition which is given in this data set.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07E8C0-764E-67C4-684F-43215BCDB1BB}"/>
              </a:ext>
            </a:extLst>
          </p:cNvPr>
          <p:cNvSpPr txBox="1"/>
          <p:nvPr/>
        </p:nvSpPr>
        <p:spPr>
          <a:xfrm>
            <a:off x="393290" y="255639"/>
            <a:ext cx="23007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Project Objectives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BD06CB-C9D3-5F4D-F96E-5705B10E2439}"/>
              </a:ext>
            </a:extLst>
          </p:cNvPr>
          <p:cNvSpPr txBox="1"/>
          <p:nvPr/>
        </p:nvSpPr>
        <p:spPr>
          <a:xfrm>
            <a:off x="717755" y="1356852"/>
            <a:ext cx="8908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Firstly Analyse the bike sharing demand through excel based data analyses and statistical function.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6B9829-F189-C3D5-5785-57B4F80D5482}"/>
              </a:ext>
            </a:extLst>
          </p:cNvPr>
          <p:cNvSpPr txBox="1"/>
          <p:nvPr/>
        </p:nvSpPr>
        <p:spPr>
          <a:xfrm>
            <a:off x="717755" y="2133600"/>
            <a:ext cx="89080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Start data preprocessing and clean, classify and transform the dataset using formulas &amp; structured values.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C1C8F1-298C-15E6-0CA8-FCE19F3FC92D}"/>
              </a:ext>
            </a:extLst>
          </p:cNvPr>
          <p:cNvSpPr txBox="1"/>
          <p:nvPr/>
        </p:nvSpPr>
        <p:spPr>
          <a:xfrm>
            <a:off x="786581" y="3018503"/>
            <a:ext cx="8986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Analyse demand by date, time, day, holiday, weather situation, windspeed, temperature, humidity with the help of pivot 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847042-F050-8B7A-CE85-38C9C35F2E18}"/>
              </a:ext>
            </a:extLst>
          </p:cNvPr>
          <p:cNvSpPr txBox="1"/>
          <p:nvPr/>
        </p:nvSpPr>
        <p:spPr>
          <a:xfrm>
            <a:off x="786582" y="3913239"/>
            <a:ext cx="8681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Create a dynamic interactive dashboard through some pivot charts, waterfall charts, pie  charts &amp; timeline slicers.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5A3F29-2F07-BDE6-6BDA-472E35700437}"/>
              </a:ext>
            </a:extLst>
          </p:cNvPr>
          <p:cNvSpPr txBox="1"/>
          <p:nvPr/>
        </p:nvSpPr>
        <p:spPr>
          <a:xfrm>
            <a:off x="786581" y="4798142"/>
            <a:ext cx="898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 Apply anomaly detection and forecasting to generate decisions.</a:t>
            </a:r>
          </a:p>
        </p:txBody>
      </p:sp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1200272-7AD9-B0CE-DB7A-A29D046CA982}"/>
              </a:ext>
            </a:extLst>
          </p:cNvPr>
          <p:cNvSpPr txBox="1"/>
          <p:nvPr/>
        </p:nvSpPr>
        <p:spPr>
          <a:xfrm>
            <a:off x="884903" y="639098"/>
            <a:ext cx="28316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Dataset Overview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FBB9F1-80F5-F094-1CC5-13E18B7DFF61}"/>
              </a:ext>
            </a:extLst>
          </p:cNvPr>
          <p:cNvSpPr txBox="1"/>
          <p:nvPr/>
        </p:nvSpPr>
        <p:spPr>
          <a:xfrm>
            <a:off x="1573161" y="1691148"/>
            <a:ext cx="1317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8801D85-A5D3-EDC6-10AD-24A0EC8E8F7F}"/>
              </a:ext>
            </a:extLst>
          </p:cNvPr>
          <p:cNvGraphicFramePr>
            <a:graphicFrameLocks noGrp="1"/>
          </p:cNvGraphicFramePr>
          <p:nvPr/>
        </p:nvGraphicFramePr>
        <p:xfrm>
          <a:off x="0" y="0"/>
          <a:ext cx="863600" cy="200025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863600">
                  <a:extLst>
                    <a:ext uri="{9D8B030D-6E8A-4147-A177-3AD203B41FA5}">
                      <a16:colId xmlns:a16="http://schemas.microsoft.com/office/drawing/2014/main" val="2288104346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951563558"/>
                  </a:ext>
                </a:extLst>
              </a:tr>
            </a:tbl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98D8CD8-E61A-6CE6-3C01-39A376EDC1FA}"/>
              </a:ext>
            </a:extLst>
          </p:cNvPr>
          <p:cNvSpPr/>
          <p:nvPr/>
        </p:nvSpPr>
        <p:spPr>
          <a:xfrm>
            <a:off x="1091380" y="1288026"/>
            <a:ext cx="1573162" cy="2140974"/>
          </a:xfrm>
          <a:prstGeom prst="roundRect">
            <a:avLst/>
          </a:prstGeom>
          <a:solidFill>
            <a:srgbClr val="F5CD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Dataset_1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sz="1000" dirty="0">
                <a:solidFill>
                  <a:schemeClr val="tx2"/>
                </a:solidFill>
              </a:rPr>
              <a:t>Date, Hour, Holiday, Weekday, Weather, temperature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ABA18BC-6E2D-F840-DD88-F6DA95800601}"/>
              </a:ext>
            </a:extLst>
          </p:cNvPr>
          <p:cNvSpPr/>
          <p:nvPr/>
        </p:nvSpPr>
        <p:spPr>
          <a:xfrm>
            <a:off x="3244644" y="1288027"/>
            <a:ext cx="1465007" cy="2140974"/>
          </a:xfrm>
          <a:prstGeom prst="roundRect">
            <a:avLst/>
          </a:prstGeom>
          <a:solidFill>
            <a:srgbClr val="F5CD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Dataset_2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Humidity, Windspeed, Casual, Registered, Count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44E3FD8-6D52-0021-9B9D-5597B33E1960}"/>
              </a:ext>
            </a:extLst>
          </p:cNvPr>
          <p:cNvSpPr/>
          <p:nvPr/>
        </p:nvSpPr>
        <p:spPr>
          <a:xfrm>
            <a:off x="5289755" y="1288026"/>
            <a:ext cx="1465007" cy="2212257"/>
          </a:xfrm>
          <a:prstGeom prst="roundRect">
            <a:avLst/>
          </a:prstGeom>
          <a:solidFill>
            <a:srgbClr val="F5CD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Dataset_3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Add some other customer records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D864A36-367C-9340-4E18-5682299680EA}"/>
              </a:ext>
            </a:extLst>
          </p:cNvPr>
          <p:cNvSpPr/>
          <p:nvPr/>
        </p:nvSpPr>
        <p:spPr>
          <a:xfrm>
            <a:off x="7187381" y="1288026"/>
            <a:ext cx="1465007" cy="2212257"/>
          </a:xfrm>
          <a:prstGeom prst="roundRect">
            <a:avLst/>
          </a:prstGeom>
          <a:solidFill>
            <a:srgbClr val="F5CD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dirty="0">
                <a:solidFill>
                  <a:schemeClr val="tx1"/>
                </a:solidFill>
              </a:rPr>
              <a:t>Dataset A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Dataset_(1+2)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887B20-3AAA-2883-0BC7-AC35E42309A4}"/>
              </a:ext>
            </a:extLst>
          </p:cNvPr>
          <p:cNvSpPr/>
          <p:nvPr/>
        </p:nvSpPr>
        <p:spPr>
          <a:xfrm>
            <a:off x="9085007" y="1288027"/>
            <a:ext cx="1465007" cy="2212256"/>
          </a:xfrm>
          <a:prstGeom prst="roundRect">
            <a:avLst/>
          </a:prstGeom>
          <a:solidFill>
            <a:srgbClr val="F5CDC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Final Dataset</a:t>
            </a:r>
          </a:p>
          <a:p>
            <a:pPr algn="ctr"/>
            <a:endParaRPr lang="en-IN" dirty="0">
              <a:solidFill>
                <a:schemeClr val="tx1"/>
              </a:solidFill>
            </a:endParaRPr>
          </a:p>
          <a:p>
            <a:pPr algn="ctr"/>
            <a:r>
              <a:rPr lang="en-IN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1000 Records of rental bike</a:t>
            </a: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C04245E-2390-A1FE-F9B9-4ED8D91FD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453" y="544613"/>
            <a:ext cx="1838325" cy="185338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BF27ABC-F947-C745-9053-6907172D86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47520" y="554138"/>
            <a:ext cx="1838325" cy="184385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AB7CB7-EE61-2F5A-F4EE-E301D46646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215" y="2445620"/>
            <a:ext cx="1828800" cy="1966759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1C8CDF0-2EBB-26F4-462D-DEBF9D4A34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047519" y="4399934"/>
            <a:ext cx="1838325" cy="132244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34CFF1F-3C02-651E-8A7B-FE8C880B3AB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062422" y="5722374"/>
            <a:ext cx="1838325" cy="919545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CB344B48-D496-AD8D-46C5-78512E0814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5467" y="4439187"/>
            <a:ext cx="1828800" cy="2202732"/>
          </a:xfrm>
          <a:prstGeom prst="rect">
            <a:avLst/>
          </a:prstGeom>
        </p:spPr>
      </p:pic>
      <p:graphicFrame>
        <p:nvGraphicFramePr>
          <p:cNvPr id="18" name="Chart 17">
            <a:extLst>
              <a:ext uri="{FF2B5EF4-FFF2-40B4-BE49-F238E27FC236}">
                <a16:creationId xmlns:a16="http://schemas.microsoft.com/office/drawing/2014/main" id="{A153CEB4-4532-413B-ACFE-10839A9B549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147479"/>
              </p:ext>
            </p:extLst>
          </p:nvPr>
        </p:nvGraphicFramePr>
        <p:xfrm>
          <a:off x="5549878" y="4130449"/>
          <a:ext cx="1813560" cy="23161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A0FDF542-5B53-62CD-C67D-E70615768F01}"/>
              </a:ext>
            </a:extLst>
          </p:cNvPr>
          <p:cNvSpPr txBox="1"/>
          <p:nvPr/>
        </p:nvSpPr>
        <p:spPr>
          <a:xfrm>
            <a:off x="3952569" y="521110"/>
            <a:ext cx="1455174" cy="923330"/>
          </a:xfrm>
          <a:prstGeom prst="rect">
            <a:avLst/>
          </a:prstGeom>
          <a:solidFill>
            <a:srgbClr val="F5CDCE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Total Rentals</a:t>
            </a:r>
          </a:p>
          <a:p>
            <a:endParaRPr lang="en-IN" dirty="0"/>
          </a:p>
          <a:p>
            <a:r>
              <a:rPr lang="en-IN" dirty="0"/>
              <a:t>    58304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202146-83B2-2DA1-254D-000548C40FF7}"/>
              </a:ext>
            </a:extLst>
          </p:cNvPr>
          <p:cNvSpPr txBox="1"/>
          <p:nvPr/>
        </p:nvSpPr>
        <p:spPr>
          <a:xfrm>
            <a:off x="5540016" y="491614"/>
            <a:ext cx="1691149" cy="923330"/>
          </a:xfrm>
          <a:prstGeom prst="rect">
            <a:avLst/>
          </a:prstGeom>
          <a:solidFill>
            <a:srgbClr val="F5CDCE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Registered Rentals Share</a:t>
            </a:r>
          </a:p>
          <a:p>
            <a:r>
              <a:rPr lang="en-IN" dirty="0"/>
              <a:t>   91.6%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BC08DEA-83E8-F3CF-5093-297F18CD8AD4}"/>
              </a:ext>
            </a:extLst>
          </p:cNvPr>
          <p:cNvSpPr txBox="1"/>
          <p:nvPr/>
        </p:nvSpPr>
        <p:spPr>
          <a:xfrm>
            <a:off x="7363438" y="486696"/>
            <a:ext cx="1621940" cy="923330"/>
          </a:xfrm>
          <a:prstGeom prst="rect">
            <a:avLst/>
          </a:prstGeom>
          <a:solidFill>
            <a:srgbClr val="F5CDCE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Casual Rentals Share</a:t>
            </a:r>
          </a:p>
          <a:p>
            <a:r>
              <a:rPr lang="en-IN" dirty="0"/>
              <a:t>    8.4%</a:t>
            </a:r>
          </a:p>
        </p:txBody>
      </p:sp>
      <p:graphicFrame>
        <p:nvGraphicFramePr>
          <p:cNvPr id="26" name="Object 25">
            <a:extLst>
              <a:ext uri="{FF2B5EF4-FFF2-40B4-BE49-F238E27FC236}">
                <a16:creationId xmlns:a16="http://schemas.microsoft.com/office/drawing/2014/main" id="{5FE27E87-099B-8B22-E97E-FC395BE3FD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8749900"/>
              </p:ext>
            </p:extLst>
          </p:nvPr>
        </p:nvGraphicFramePr>
        <p:xfrm>
          <a:off x="3952570" y="1533832"/>
          <a:ext cx="4906296" cy="2477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10" imgW="3055797" imgH="1516537" progId="Excel.Sheet.12">
                  <p:embed/>
                </p:oleObj>
              </mc:Choice>
              <mc:Fallback>
                <p:oleObj name="Worksheet" r:id="rId10" imgW="3055797" imgH="1516537" progId="Excel.Sheet.12">
                  <p:embed/>
                  <p:pic>
                    <p:nvPicPr>
                      <p:cNvPr id="26" name="Object 25">
                        <a:extLst>
                          <a:ext uri="{FF2B5EF4-FFF2-40B4-BE49-F238E27FC236}">
                            <a16:creationId xmlns:a16="http://schemas.microsoft.com/office/drawing/2014/main" id="{5FE27E87-099B-8B22-E97E-FC395BE3FD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952570" y="1533832"/>
                        <a:ext cx="4906296" cy="2477729"/>
                      </a:xfrm>
                      <a:prstGeom prst="rect">
                        <a:avLst/>
                      </a:prstGeom>
                      <a:solidFill>
                        <a:srgbClr val="F5CDCE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5316C5EE-9E46-FF3E-FE17-2CA9E0A80448}"/>
              </a:ext>
            </a:extLst>
          </p:cNvPr>
          <p:cNvSpPr txBox="1"/>
          <p:nvPr/>
        </p:nvSpPr>
        <p:spPr>
          <a:xfrm>
            <a:off x="225986" y="52379"/>
            <a:ext cx="3726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Data Slicer , Preprocessing &amp; KPI 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59911D6-28B1-076C-3F7F-F32F26E034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047518" y="2423650"/>
            <a:ext cx="1838325" cy="1988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ACDAD98D-0163-AF33-16FE-CB491E7088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5687859"/>
              </p:ext>
            </p:extLst>
          </p:nvPr>
        </p:nvGraphicFramePr>
        <p:xfrm>
          <a:off x="3598606" y="609599"/>
          <a:ext cx="8377084" cy="577153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7902117" imgH="5882467" progId="Excel.Sheet.12">
                  <p:embed/>
                </p:oleObj>
              </mc:Choice>
              <mc:Fallback>
                <p:oleObj name="Worksheet" r:id="rId3" imgW="7902117" imgH="5882467" progId="Excel.Sheet.12">
                  <p:embed/>
                  <p:pic>
                    <p:nvPicPr>
                      <p:cNvPr id="8" name="Object 7">
                        <a:extLst>
                          <a:ext uri="{FF2B5EF4-FFF2-40B4-BE49-F238E27FC236}">
                            <a16:creationId xmlns:a16="http://schemas.microsoft.com/office/drawing/2014/main" id="{ACDAD98D-0163-AF33-16FE-CB491E7088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8606" y="609599"/>
                        <a:ext cx="8377084" cy="5771536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22B90138-1A13-3DC0-A26B-0EDD00A2458E}"/>
              </a:ext>
            </a:extLst>
          </p:cNvPr>
          <p:cNvSpPr txBox="1"/>
          <p:nvPr/>
        </p:nvSpPr>
        <p:spPr>
          <a:xfrm>
            <a:off x="3598606" y="107533"/>
            <a:ext cx="2231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Data Analysis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EE1CC5B-C1F7-2B3B-60DF-8468DFAD7D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29016164"/>
              </p:ext>
            </p:extLst>
          </p:nvPr>
        </p:nvGraphicFramePr>
        <p:xfrm>
          <a:off x="408115" y="928688"/>
          <a:ext cx="11375769" cy="322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3731311" imgH="2865089" progId="Excel.Sheet.12">
                  <p:embed/>
                </p:oleObj>
              </mc:Choice>
              <mc:Fallback>
                <p:oleObj name="Worksheet" r:id="rId2" imgW="13731311" imgH="2865089" progId="Excel.Sheet.12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DEE1CC5B-C1F7-2B3B-60DF-8468DFAD7D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08115" y="928688"/>
                        <a:ext cx="11375769" cy="3221037"/>
                      </a:xfrm>
                      <a:prstGeom prst="rect">
                        <a:avLst/>
                      </a:prstGeom>
                      <a:solidFill>
                        <a:srgbClr val="F5CDCE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36BDF3E-BA0E-33D0-88C3-B6193AF41C3A}"/>
              </a:ext>
            </a:extLst>
          </p:cNvPr>
          <p:cNvSpPr txBox="1"/>
          <p:nvPr/>
        </p:nvSpPr>
        <p:spPr>
          <a:xfrm>
            <a:off x="648929" y="493760"/>
            <a:ext cx="2507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Statistical Analysis</a:t>
            </a:r>
            <a:endParaRPr lang="en-IN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2AD010-3F5C-49BF-AF9B-B087B5AC8B3B}"/>
              </a:ext>
            </a:extLst>
          </p:cNvPr>
          <p:cNvSpPr txBox="1"/>
          <p:nvPr/>
        </p:nvSpPr>
        <p:spPr>
          <a:xfrm>
            <a:off x="717755" y="4404851"/>
            <a:ext cx="9930580" cy="178510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400" b="1" dirty="0"/>
              <a:t>Statistical Measure       --  Comment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Mean                             --  Shows the average number of bike rentals.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Median                          --  Represents the middle value of bike rentals.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Standard Deviation      -- Rental counts show considerable variation around the mean (SD = 2599.527).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Variance                         --  Indicates high variability in bike rental counts.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Skewness                       --  Count is positively skewed (1.137709), indicating some days have comparatively high rentals.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Kurtosis                         -- Count has positive kurtosis (1.026661), suggesting a more peaked distribution with heavier tails than a normal distribution.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Range                           -- A range of 248 indicates the difference between the highest and lowest values in the analysed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Correlation                   -- Humidity and bike rentals have a weak negative correlation (-0.254353).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07265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7A068018-4D01-19CE-85BD-4CD7ACF0B1F2}"/>
              </a:ext>
            </a:extLst>
          </p:cNvPr>
          <p:cNvSpPr txBox="1"/>
          <p:nvPr/>
        </p:nvSpPr>
        <p:spPr>
          <a:xfrm>
            <a:off x="570271" y="589936"/>
            <a:ext cx="268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Correlation Analysis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276020E9-EC77-3BC9-7A9B-57C0CDE930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053163"/>
              </p:ext>
            </p:extLst>
          </p:nvPr>
        </p:nvGraphicFramePr>
        <p:xfrm>
          <a:off x="645396" y="1093429"/>
          <a:ext cx="10406062" cy="2505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8008443" imgH="1699370" progId="Excel.Sheet.12">
                  <p:embed/>
                </p:oleObj>
              </mc:Choice>
              <mc:Fallback>
                <p:oleObj name="Worksheet" r:id="rId3" imgW="8008443" imgH="1699370" progId="Excel.Sheet.12">
                  <p:embed/>
                  <p:pic>
                    <p:nvPicPr>
                      <p:cNvPr id="3" name="Object 2">
                        <a:extLst>
                          <a:ext uri="{FF2B5EF4-FFF2-40B4-BE49-F238E27FC236}">
                            <a16:creationId xmlns:a16="http://schemas.microsoft.com/office/drawing/2014/main" id="{276020E9-EC77-3BC9-7A9B-57C0CDE9300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5396" y="1093429"/>
                        <a:ext cx="10406062" cy="2505177"/>
                      </a:xfrm>
                      <a:prstGeom prst="rect">
                        <a:avLst/>
                      </a:prstGeom>
                      <a:solidFill>
                        <a:srgbClr val="F5CDCE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F834DED-9FE9-D46C-E15F-DC505C452207}"/>
              </a:ext>
            </a:extLst>
          </p:cNvPr>
          <p:cNvSpPr txBox="1"/>
          <p:nvPr/>
        </p:nvSpPr>
        <p:spPr>
          <a:xfrm>
            <a:off x="1052052" y="4168877"/>
            <a:ext cx="7836309" cy="9233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/>
              <a:t>Humidity and bike rentals show a weak negative correlation (-0.254353). This indicates that bike rentals tend to decrease slightly as humidity increases. However, the relationship is weak and does not establish causation.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471D910-4DC7-2AE9-86F5-8CFF0EF6E696}"/>
              </a:ext>
            </a:extLst>
          </p:cNvPr>
          <p:cNvSpPr txBox="1"/>
          <p:nvPr/>
        </p:nvSpPr>
        <p:spPr>
          <a:xfrm>
            <a:off x="373626" y="169295"/>
            <a:ext cx="2821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Anomaly Detection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3550F47-E144-2844-6F28-942D36B9C7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5548363"/>
              </p:ext>
            </p:extLst>
          </p:nvPr>
        </p:nvGraphicFramePr>
        <p:xfrm>
          <a:off x="530942" y="647404"/>
          <a:ext cx="3077496" cy="6041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2240493" imgH="7726491" progId="Excel.Sheet.12">
                  <p:embed/>
                </p:oleObj>
              </mc:Choice>
              <mc:Fallback>
                <p:oleObj name="Worksheet" r:id="rId3" imgW="2240493" imgH="7726491" progId="Excel.Sheet.12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3550F47-E144-2844-6F28-942D36B9C7F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942" y="647404"/>
                        <a:ext cx="3077496" cy="60413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2719066-1D96-675B-CC56-77EC16FF1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612627"/>
              </p:ext>
            </p:extLst>
          </p:nvPr>
        </p:nvGraphicFramePr>
        <p:xfrm>
          <a:off x="3873910" y="747252"/>
          <a:ext cx="2222090" cy="1720643"/>
        </p:xfrm>
        <a:graphic>
          <a:graphicData uri="http://schemas.openxmlformats.org/drawingml/2006/table">
            <a:tbl>
              <a:tblPr/>
              <a:tblGrid>
                <a:gridCol w="1256934">
                  <a:extLst>
                    <a:ext uri="{9D8B030D-6E8A-4147-A177-3AD203B41FA5}">
                      <a16:colId xmlns:a16="http://schemas.microsoft.com/office/drawing/2014/main" val="3675305107"/>
                    </a:ext>
                  </a:extLst>
                </a:gridCol>
                <a:gridCol w="965156">
                  <a:extLst>
                    <a:ext uri="{9D8B030D-6E8A-4147-A177-3AD203B41FA5}">
                      <a16:colId xmlns:a16="http://schemas.microsoft.com/office/drawing/2014/main" val="3334477460"/>
                    </a:ext>
                  </a:extLst>
                </a:gridCol>
              </a:tblGrid>
              <a:tr h="40218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1295.644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500991"/>
                  </a:ext>
                </a:extLst>
              </a:tr>
              <a:tr h="41201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 Dev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392.6486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4969154"/>
                  </a:ext>
                </a:extLst>
              </a:tr>
              <a:tr h="453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Upper Bound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2080.942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7307942"/>
                  </a:ext>
                </a:extLst>
              </a:tr>
              <a:tr h="45322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Lower Bound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510.3471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BC0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6081245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3CF014-89BA-5E5A-186C-27FD16FC45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239044"/>
              </p:ext>
            </p:extLst>
          </p:nvPr>
        </p:nvGraphicFramePr>
        <p:xfrm>
          <a:off x="6233653" y="737418"/>
          <a:ext cx="3077496" cy="1730478"/>
        </p:xfrm>
        <a:graphic>
          <a:graphicData uri="http://schemas.openxmlformats.org/drawingml/2006/table">
            <a:tbl>
              <a:tblPr/>
              <a:tblGrid>
                <a:gridCol w="1781708">
                  <a:extLst>
                    <a:ext uri="{9D8B030D-6E8A-4147-A177-3AD203B41FA5}">
                      <a16:colId xmlns:a16="http://schemas.microsoft.com/office/drawing/2014/main" val="3073045776"/>
                    </a:ext>
                  </a:extLst>
                </a:gridCol>
                <a:gridCol w="1295788">
                  <a:extLst>
                    <a:ext uri="{9D8B030D-6E8A-4147-A177-3AD203B41FA5}">
                      <a16:colId xmlns:a16="http://schemas.microsoft.com/office/drawing/2014/main" val="1869736779"/>
                    </a:ext>
                  </a:extLst>
                </a:gridCol>
              </a:tblGrid>
              <a:tr h="292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58.304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215012"/>
                  </a:ext>
                </a:extLst>
              </a:tr>
              <a:tr h="2662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Std Dev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50.98556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449591"/>
                  </a:ext>
                </a:extLst>
              </a:tr>
              <a:tr h="292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Upper Bound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160.2751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493528"/>
                  </a:ext>
                </a:extLst>
              </a:tr>
              <a:tr h="292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Lower Bound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-43.6671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2893863"/>
                  </a:ext>
                </a:extLst>
              </a:tr>
              <a:tr h="292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High Anomaly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863740"/>
                  </a:ext>
                </a:extLst>
              </a:tr>
              <a:tr h="2928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Low Anomaly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B4A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84244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E01A85D-C61E-F3A0-6292-45BC3CF3B1B4}"/>
              </a:ext>
            </a:extLst>
          </p:cNvPr>
          <p:cNvSpPr txBox="1"/>
          <p:nvPr/>
        </p:nvSpPr>
        <p:spPr>
          <a:xfrm>
            <a:off x="3991897" y="4581832"/>
            <a:ext cx="7226709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Anomaly Detection helps identify unusual rental demands and investigate possible peak-demand days. All the anomalies shown in the data are normal. This means that these values are not data entry errors; rather they represent errors or genuine demand fluctuations in bike rentals or peak –demand days.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B2AB71-9167-2648-7FB9-70D97FCEB010}"/>
              </a:ext>
            </a:extLst>
          </p:cNvPr>
          <p:cNvSpPr txBox="1"/>
          <p:nvPr/>
        </p:nvSpPr>
        <p:spPr>
          <a:xfrm>
            <a:off x="3864076" y="2467896"/>
            <a:ext cx="2231923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Every Days Data Anomaly Detection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0737BA-9240-B09F-5891-A2D6740A3204}"/>
              </a:ext>
            </a:extLst>
          </p:cNvPr>
          <p:cNvSpPr txBox="1"/>
          <p:nvPr/>
        </p:nvSpPr>
        <p:spPr>
          <a:xfrm>
            <a:off x="6233653" y="2489708"/>
            <a:ext cx="3077496" cy="5847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600" dirty="0"/>
              <a:t>Every Hour Data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682DA1D-3B22-4DFA-85E1-FD30BF0E2B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5606748"/>
              </p:ext>
            </p:extLst>
          </p:nvPr>
        </p:nvGraphicFramePr>
        <p:xfrm>
          <a:off x="-1" y="402890"/>
          <a:ext cx="4601497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3FC9A4A0-5473-45C4-A0C4-DDF0587590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51046392"/>
              </p:ext>
            </p:extLst>
          </p:nvPr>
        </p:nvGraphicFramePr>
        <p:xfrm>
          <a:off x="4680155" y="410510"/>
          <a:ext cx="4278138" cy="21412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FD386FC6-76A8-4A02-ADDB-A0BCDE51E8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018501"/>
              </p:ext>
            </p:extLst>
          </p:nvPr>
        </p:nvGraphicFramePr>
        <p:xfrm>
          <a:off x="0" y="2592288"/>
          <a:ext cx="4601496" cy="2110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05B4333C-0CD7-457E-8C75-492B9CD3D1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8657188"/>
              </p:ext>
            </p:extLst>
          </p:nvPr>
        </p:nvGraphicFramePr>
        <p:xfrm>
          <a:off x="4680155" y="2592288"/>
          <a:ext cx="4278138" cy="2110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F7FAAF6E-C451-4096-B828-8F85080CC4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21214899"/>
              </p:ext>
            </p:extLst>
          </p:nvPr>
        </p:nvGraphicFramePr>
        <p:xfrm>
          <a:off x="0" y="4741128"/>
          <a:ext cx="4601496" cy="2110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BA143875-2565-4205-A113-0CBD5BC2D40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18121901"/>
              </p:ext>
            </p:extLst>
          </p:nvPr>
        </p:nvGraphicFramePr>
        <p:xfrm>
          <a:off x="4680155" y="4741128"/>
          <a:ext cx="4278138" cy="2110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C8CAD82-12FD-C071-E50E-05345A1E7C75}"/>
              </a:ext>
            </a:extLst>
          </p:cNvPr>
          <p:cNvSpPr txBox="1"/>
          <p:nvPr/>
        </p:nvSpPr>
        <p:spPr>
          <a:xfrm>
            <a:off x="98322" y="33558"/>
            <a:ext cx="2477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Pivot Table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D7D7CE-D896-1F36-9EE1-DCB2777F7B41}"/>
              </a:ext>
            </a:extLst>
          </p:cNvPr>
          <p:cNvSpPr txBox="1"/>
          <p:nvPr/>
        </p:nvSpPr>
        <p:spPr>
          <a:xfrm>
            <a:off x="9379975" y="521110"/>
            <a:ext cx="2566220" cy="4616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Highest Average Hour – 17:00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Next Highest Hour --   8:00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1D405E-6473-4C9B-808E-27842193E672}"/>
              </a:ext>
            </a:extLst>
          </p:cNvPr>
          <p:cNvSpPr txBox="1"/>
          <p:nvPr/>
        </p:nvSpPr>
        <p:spPr>
          <a:xfrm>
            <a:off x="9379975" y="1107978"/>
            <a:ext cx="2566220" cy="7386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In clear weather average demand is highest</a:t>
            </a:r>
          </a:p>
          <a:p>
            <a:endParaRPr lang="en-IN" sz="1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3B5C33-1672-FB26-F3AD-BEF16F0557BF}"/>
              </a:ext>
            </a:extLst>
          </p:cNvPr>
          <p:cNvSpPr txBox="1"/>
          <p:nvPr/>
        </p:nvSpPr>
        <p:spPr>
          <a:xfrm>
            <a:off x="9379975" y="2592288"/>
            <a:ext cx="2458064" cy="73866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Highest holiday busiest hour – 13:00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Lowest in – 23:00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018F07-E3BA-EEE5-172C-7592A7170F15}"/>
              </a:ext>
            </a:extLst>
          </p:cNvPr>
          <p:cNvSpPr txBox="1"/>
          <p:nvPr/>
        </p:nvSpPr>
        <p:spPr>
          <a:xfrm>
            <a:off x="9379976" y="4984955"/>
            <a:ext cx="2458064" cy="5232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/>
              <a:t>Highest Bike Rent on – 20 January &amp; 25 January</a:t>
            </a:r>
          </a:p>
        </p:txBody>
      </p:sp>
    </p:spTree>
    <p:extLst>
      <p:ext uri="{BB962C8B-B14F-4D97-AF65-F5344CB8AC3E}">
        <p14:creationId xmlns:p14="http://schemas.microsoft.com/office/powerpoint/2010/main" val="2045556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7" name="Chart 6">
                <a:extLst>
                  <a:ext uri="{FF2B5EF4-FFF2-40B4-BE49-F238E27FC236}">
                    <a16:creationId xmlns:a16="http://schemas.microsoft.com/office/drawing/2014/main" id="{FA83E4F6-0B65-CA8D-50D2-D1BE33D747E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217436"/>
                  </p:ext>
                </p:extLst>
              </p:nvPr>
            </p:nvGraphicFramePr>
            <p:xfrm>
              <a:off x="1361770" y="530320"/>
              <a:ext cx="3515031" cy="2743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7" name="Chart 6">
                <a:extLst>
                  <a:ext uri="{FF2B5EF4-FFF2-40B4-BE49-F238E27FC236}">
                    <a16:creationId xmlns:a16="http://schemas.microsoft.com/office/drawing/2014/main" id="{FA83E4F6-0B65-CA8D-50D2-D1BE33D747E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1770" y="530320"/>
                <a:ext cx="3515031" cy="27432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2A74AE97-6CEB-3716-847C-297FFB64E3D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6367260"/>
              </p:ext>
            </p:extLst>
          </p:nvPr>
        </p:nvGraphicFramePr>
        <p:xfrm>
          <a:off x="4978565" y="518963"/>
          <a:ext cx="359664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41BC076-9CCC-63EC-860E-D62BB18FF83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93738469"/>
              </p:ext>
            </p:extLst>
          </p:nvPr>
        </p:nvGraphicFramePr>
        <p:xfrm>
          <a:off x="8676969" y="530320"/>
          <a:ext cx="351503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8D26B719-9106-9CE5-2924-0022120A9DD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087916"/>
              </p:ext>
            </p:extLst>
          </p:nvPr>
        </p:nvGraphicFramePr>
        <p:xfrm>
          <a:off x="1361770" y="3957550"/>
          <a:ext cx="6631856" cy="27508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080E12A1-109F-9016-47A9-5BE28076C62F}"/>
              </a:ext>
            </a:extLst>
          </p:cNvPr>
          <p:cNvSpPr txBox="1"/>
          <p:nvPr/>
        </p:nvSpPr>
        <p:spPr>
          <a:xfrm>
            <a:off x="1661651" y="132114"/>
            <a:ext cx="33169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Weather &amp; Forecasting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31E312-8D86-B798-8D40-96D201087820}"/>
              </a:ext>
            </a:extLst>
          </p:cNvPr>
          <p:cNvSpPr txBox="1"/>
          <p:nvPr/>
        </p:nvSpPr>
        <p:spPr>
          <a:xfrm>
            <a:off x="1347019" y="3362632"/>
            <a:ext cx="3515031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Clear weather supports demands while rainy condition may affect demands.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E755549-8798-7FE6-079C-8E71F03C3448}"/>
              </a:ext>
            </a:extLst>
          </p:cNvPr>
          <p:cNvSpPr txBox="1"/>
          <p:nvPr/>
        </p:nvSpPr>
        <p:spPr>
          <a:xfrm>
            <a:off x="4963814" y="3330795"/>
            <a:ext cx="3611391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Charts indicate negative relationship between windspeed &amp; total rentals.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8EBFAA-5230-8941-833B-2A1FDBC0308B}"/>
              </a:ext>
            </a:extLst>
          </p:cNvPr>
          <p:cNvSpPr txBox="1"/>
          <p:nvPr/>
        </p:nvSpPr>
        <p:spPr>
          <a:xfrm>
            <a:off x="8731045" y="3333138"/>
            <a:ext cx="3515031" cy="5847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Whenever temperature is very low or high ,demands are decreases.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0D253F-BE09-D44E-3D1B-D172BFA1363E}"/>
              </a:ext>
            </a:extLst>
          </p:cNvPr>
          <p:cNvSpPr txBox="1"/>
          <p:nvPr/>
        </p:nvSpPr>
        <p:spPr>
          <a:xfrm>
            <a:off x="8180439" y="4286865"/>
            <a:ext cx="3918153" cy="10772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abon Next LT"/>
                <a:ea typeface="+mn-ea"/>
                <a:cs typeface="+mn-cs"/>
              </a:rPr>
              <a:t>The Forecast suggest the possible future trends in bike rentals based on historical data. Actual demand may vary depending on weather and other factors.</a:t>
            </a:r>
          </a:p>
        </p:txBody>
      </p:sp>
    </p:spTree>
    <p:extLst>
      <p:ext uri="{BB962C8B-B14F-4D97-AF65-F5344CB8AC3E}">
        <p14:creationId xmlns:p14="http://schemas.microsoft.com/office/powerpoint/2010/main" val="4242171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9C4617E9-79AE-EEF5-3F82-253DD73B4A4B}"/>
              </a:ext>
            </a:extLst>
          </p:cNvPr>
          <p:cNvSpPr txBox="1"/>
          <p:nvPr/>
        </p:nvSpPr>
        <p:spPr>
          <a:xfrm>
            <a:off x="1769807" y="727587"/>
            <a:ext cx="2536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 Findings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D75CBC-EB22-85F3-4896-1F8EE24D6F70}"/>
              </a:ext>
            </a:extLst>
          </p:cNvPr>
          <p:cNvSpPr txBox="1"/>
          <p:nvPr/>
        </p:nvSpPr>
        <p:spPr>
          <a:xfrm>
            <a:off x="2123768" y="1425677"/>
            <a:ext cx="923249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demand is time patterned   -- Maintain lots of bikes in peak hour due to high demands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Register riders demand too high – maintain staff and important kit for them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In holidays demand                    -- in weekdays create a stronger base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Weathers always matters            -- adverse weather decrease demand so prepare for some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Analytics can move beyond reporting – Anomaly Detection and forecasting  turn the dashboard into a planning tool</a:t>
            </a:r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0F52F9E-C033-AC81-3D98-98B0EC69F7E1}"/>
              </a:ext>
            </a:extLst>
          </p:cNvPr>
          <p:cNvSpPr txBox="1"/>
          <p:nvPr/>
        </p:nvSpPr>
        <p:spPr>
          <a:xfrm>
            <a:off x="855406" y="717755"/>
            <a:ext cx="2172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79D096-9AFE-1EAE-65FC-9B7F0D4A4F63}"/>
              </a:ext>
            </a:extLst>
          </p:cNvPr>
          <p:cNvSpPr txBox="1"/>
          <p:nvPr/>
        </p:nvSpPr>
        <p:spPr>
          <a:xfrm>
            <a:off x="1061884" y="1337187"/>
            <a:ext cx="9330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The Bike Sharing Data analysis project provides valuable insights into rental trends, weather conditions, and customer behaviour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946A75-6826-A1FA-7316-7EEF7F03D522}"/>
              </a:ext>
            </a:extLst>
          </p:cNvPr>
          <p:cNvSpPr txBox="1"/>
          <p:nvPr/>
        </p:nvSpPr>
        <p:spPr>
          <a:xfrm>
            <a:off x="1101213" y="2399071"/>
            <a:ext cx="922265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analysis shows that registered riders contributes the majority of bike rentals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Clear Weather is the most frequently recorded condition, while rainy condition may affect rental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Whenever windspeed increases this may adversely affect rental patterns.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Bike rental demands is higher within a moderate temperature range.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Saturday has the highest rental count in the displayed day-wise summary.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A6F5FD-6515-62D6-0C44-F929411E981D}"/>
              </a:ext>
            </a:extLst>
          </p:cNvPr>
          <p:cNvSpPr txBox="1"/>
          <p:nvPr/>
        </p:nvSpPr>
        <p:spPr>
          <a:xfrm>
            <a:off x="1120877" y="4874482"/>
            <a:ext cx="9969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* The environmental conditions , holiday and time-based insights can help Bike-Sharing companies improve demand planning, fleet management and customer service.</a:t>
            </a:r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BA986AD-61D4-F61E-B08B-9700DC6CC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4876" y="786581"/>
            <a:ext cx="9016181" cy="5289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Glossy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tint val="95000"/>
              <a:shade val="95000"/>
              <a:satMod val="120000"/>
            </a:schemeClr>
          </a:solidFill>
          <a:prstDash val="solid"/>
        </a:ln>
        <a:ln w="55000" cap="flat" cmpd="thickThin" algn="ctr">
          <a:solidFill>
            <a:schemeClr val="phClr">
              <a:tint val="90000"/>
              <a:satMod val="130000"/>
            </a:schemeClr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Sheets">
    <a:dk1>
      <a:srgbClr val="000000"/>
    </a:dk1>
    <a:lt1>
      <a:srgbClr val="FFFFFF"/>
    </a:lt1>
    <a:dk2>
      <a:srgbClr val="000000"/>
    </a:dk2>
    <a:lt2>
      <a:srgbClr val="FFFFFF"/>
    </a:lt2>
    <a:accent1>
      <a:srgbClr val="4285F4"/>
    </a:accent1>
    <a:accent2>
      <a:srgbClr val="EA4335"/>
    </a:accent2>
    <a:accent3>
      <a:srgbClr val="FBBC04"/>
    </a:accent3>
    <a:accent4>
      <a:srgbClr val="34A853"/>
    </a:accent4>
    <a:accent5>
      <a:srgbClr val="FF6D01"/>
    </a:accent5>
    <a:accent6>
      <a:srgbClr val="46BDC6"/>
    </a:accent6>
    <a:hlink>
      <a:srgbClr val="1155CC"/>
    </a:hlink>
    <a:folHlink>
      <a:srgbClr val="1155CC"/>
    </a:folHlink>
  </a:clrScheme>
  <a:fontScheme name="Sheets">
    <a:majorFont>
      <a:latin typeface="Arial"/>
      <a:ea typeface="Arial"/>
      <a:cs typeface="Arial"/>
    </a:majorFont>
    <a:minorFont>
      <a:latin typeface="Arial"/>
      <a:ea typeface="Arial"/>
      <a:cs typeface="Arial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{88145791-FAE9-4E20-940F-B4631F336E73}TF8a9b5915-b8c7-461e-8cdd-693d48b5e32371f7b7e2_win32-4bf0b9a2ea37</Template>
  <TotalTime>524</TotalTime>
  <Words>858</Words>
  <Application>Microsoft Office PowerPoint</Application>
  <PresentationFormat>Widescreen</PresentationFormat>
  <Paragraphs>131</Paragraphs>
  <Slides>15</Slides>
  <Notes>12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Black</vt:lpstr>
      <vt:lpstr>Calibri</vt:lpstr>
      <vt:lpstr>Sabon Next LT</vt:lpstr>
      <vt:lpstr>Custom</vt:lpstr>
      <vt:lpstr>Worksheet</vt:lpstr>
      <vt:lpstr>BIKE RENTAL 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 you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SATYAM TIWARI</dc:creator>
  <cp:lastModifiedBy>SATYAM TIWARI</cp:lastModifiedBy>
  <cp:revision>1</cp:revision>
  <dcterms:created xsi:type="dcterms:W3CDTF">2026-10-09T18:54:31Z</dcterms:created>
  <dcterms:modified xsi:type="dcterms:W3CDTF">2026-10-10T15:50:58Z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